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6.png"/><Relationship Id="rId7" Type="http://schemas.openxmlformats.org/officeDocument/2006/relationships/image" Target="../media/image10.png"/><Relationship Id="rId8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42048" y="658368"/>
            <a:ext cx="4206240" cy="87782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676656"/>
            <a:ext cx="4169664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749808"/>
            <a:ext cx="387705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Brand</a:t>
            </a:r>
          </a:p>
        </p:txBody>
      </p:sp>
      <p:pic>
        <p:nvPicPr>
          <p:cNvPr id="8" name="Picture 7" descr="logo-text-colorfu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6368" y="877824"/>
            <a:ext cx="3611880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65836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2026-04-02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261872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F4F8FF"/>
                </a:solidFill>
                <a:latin typeface="PingFang SC"/>
              </a:rPr>
              <a:t>小程序还能这么写？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39696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PingFang SC"/>
              </a:rPr>
              <a:t>AI 出样式，Tailwind 跑全端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2944368"/>
            <a:ext cx="5440680" cy="1042415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62656"/>
            <a:ext cx="5404104" cy="10058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" y="32004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F"/>
                </a:solidFill>
                <a:latin typeface="PingFang SC"/>
              </a:rPr>
              <a:t>一句话描述界面 -&gt; AI 生成 Tailwind 类名 -&gt; weapp-tailwindcss 自动转译 -&gt; 小程序直接预览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736592"/>
            <a:ext cx="1828800" cy="457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754880"/>
            <a:ext cx="17922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9264" y="4846320"/>
            <a:ext cx="1554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8FF"/>
                </a:solidFill>
                <a:latin typeface="PingFang SC"/>
              </a:rPr>
              <a:t>痛点重述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0360" y="4736592"/>
            <a:ext cx="1828800" cy="457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8648" y="4754880"/>
            <a:ext cx="17922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026664" y="4846320"/>
            <a:ext cx="1554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8FF"/>
                </a:solidFill>
                <a:latin typeface="PingFang SC"/>
              </a:rPr>
              <a:t>AI 出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413248"/>
            <a:ext cx="1828800" cy="457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5431536"/>
            <a:ext cx="1792224" cy="4206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9264" y="5522976"/>
            <a:ext cx="1554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8FF"/>
                </a:solidFill>
                <a:latin typeface="PingFang SC"/>
              </a:rPr>
              <a:t>Tailwind 语言层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80360" y="5413248"/>
            <a:ext cx="1828800" cy="457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8648" y="5431536"/>
            <a:ext cx="1792224" cy="4206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026664" y="5522976"/>
            <a:ext cx="1554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8FF"/>
                </a:solidFill>
                <a:latin typeface="PingFang SC"/>
              </a:rPr>
              <a:t>工程化落地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7" y="1682496"/>
            <a:ext cx="4069080" cy="39319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5" y="1700784"/>
            <a:ext cx="4032504" cy="38953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19" y="1773936"/>
            <a:ext cx="37398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PingFang SC"/>
              </a:rPr>
              <a:t>意图 -&gt; 原子类 -&gt; 运行结果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45552" y="2194560"/>
            <a:ext cx="3017520" cy="42062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212848"/>
            <a:ext cx="2980944" cy="3840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10144" y="2295144"/>
            <a:ext cx="2651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8FF"/>
                </a:solidFill>
                <a:latin typeface="PingFang SC"/>
              </a:rPr>
              <a:t>Prompt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5552" y="2926080"/>
            <a:ext cx="3017520" cy="42062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2944368"/>
            <a:ext cx="2980944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10144" y="3026664"/>
            <a:ext cx="2651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8FF"/>
                </a:solidFill>
                <a:latin typeface="PingFang SC"/>
              </a:rPr>
              <a:t>Tailwind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5552" y="3657600"/>
            <a:ext cx="3017520" cy="42062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675888"/>
            <a:ext cx="2980944" cy="38404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010144" y="3758184"/>
            <a:ext cx="2651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8FF"/>
                </a:solidFill>
                <a:latin typeface="PingFang SC"/>
              </a:rPr>
              <a:t>weapp-tw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45552" y="4389120"/>
            <a:ext cx="3017520" cy="42062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4407408"/>
            <a:ext cx="2980944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010144" y="4489704"/>
            <a:ext cx="2651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8FF"/>
                </a:solidFill>
                <a:latin typeface="PingFang SC"/>
              </a:rPr>
              <a:t>Preview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灵魂拷问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你到底花了多少时间在写样式？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81328"/>
            <a:ext cx="6126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F4F8FF"/>
                </a:solidFill>
                <a:latin typeface="PingFang SC"/>
              </a:rPr>
              <a:t>你不是在写样式。</a:t>
            </a:r>
            <a:br/>
            <a:r>
              <a:t>你是在交时间税。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072384"/>
            <a:ext cx="5532120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090672"/>
            <a:ext cx="5495544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2415" y="3182112"/>
            <a:ext cx="5120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1">
                <a:solidFill>
                  <a:srgbClr val="F4F8FF"/>
                </a:solidFill>
                <a:latin typeface="PingFang SC"/>
              </a:rPr>
              <a:t>上周写了多少行样式？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822191"/>
            <a:ext cx="5532120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840479"/>
            <a:ext cx="549554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2415" y="3931919"/>
            <a:ext cx="5120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1">
                <a:solidFill>
                  <a:srgbClr val="F4F8FF"/>
                </a:solidFill>
                <a:latin typeface="PingFang SC"/>
              </a:rPr>
              <a:t>花了多少时间调 margin / padding / radius / shadow？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572000"/>
            <a:ext cx="5532120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590288"/>
            <a:ext cx="5495544" cy="438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2415" y="4681728"/>
            <a:ext cx="51206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1">
                <a:solidFill>
                  <a:srgbClr val="F4F8FF"/>
                </a:solidFill>
                <a:latin typeface="PingFang SC"/>
              </a:rPr>
              <a:t>你是在写业务，还是在做像素搬运？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755648"/>
            <a:ext cx="3657600" cy="356616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1773936"/>
            <a:ext cx="3621024" cy="35295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71231" y="1847088"/>
            <a:ext cx="2834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2D3EE"/>
                </a:solidFill>
                <a:latin typeface="PingFang SC"/>
              </a:rPr>
              <a:t>时间税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6096" y="2057400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PingFang SC"/>
              </a:rPr>
              <a:t>额外负担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44383" y="2697480"/>
            <a:ext cx="269748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1" y="2715768"/>
            <a:ext cx="2660904" cy="4023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0" y="2807208"/>
            <a:ext cx="2423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F4F8FF"/>
                </a:solidFill>
                <a:latin typeface="PingFang SC"/>
              </a:rPr>
              <a:t>平台差异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4383" y="3447288"/>
            <a:ext cx="269748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1" y="3465576"/>
            <a:ext cx="2660904" cy="40233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0" y="3557016"/>
            <a:ext cx="2423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F4F8FF"/>
                </a:solidFill>
                <a:latin typeface="PingFang SC"/>
              </a:rPr>
              <a:t>单位适配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44383" y="4197096"/>
            <a:ext cx="269748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1" y="4215384"/>
            <a:ext cx="2660904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4306824"/>
            <a:ext cx="2423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F4F8FF"/>
                </a:solidFill>
                <a:latin typeface="PingFang SC"/>
              </a:rPr>
              <a:t>多端一致性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6096" y="4590288"/>
            <a:ext cx="28346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94A3B8"/>
                </a:solidFill>
                <a:latin typeface="PingFang SC"/>
              </a:rPr>
              <a:t>小程序场景还要额外承担平台差异、单位适配和多端一致性。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为什么小程序样式开发一直慢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不是你不努力，是旧范式本来就低效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627632"/>
            <a:ext cx="1005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22D3EE"/>
                </a:solidFill>
                <a:latin typeface="PingFang SC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42832" y="2121408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PingFang SC"/>
              </a:rPr>
              <a:t>个固定摩擦点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36192"/>
            <a:ext cx="8046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8FF"/>
                </a:solidFill>
                <a:latin typeface="PingFang SC"/>
              </a:rPr>
              <a:t>真正拖慢你的，</a:t>
            </a:r>
            <a:br/>
            <a:r>
              <a:t>不是 CSS 本身。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95728"/>
            <a:ext cx="5303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94A3B8"/>
                </a:solidFill>
                <a:latin typeface="PingFang SC"/>
              </a:rPr>
              <a:t>而是表达、试错、适配、反馈这 4 个摩擦点叠在一起。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52928"/>
            <a:ext cx="4315968" cy="106070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2871216"/>
            <a:ext cx="4279392" cy="1024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3163824"/>
            <a:ext cx="3794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8FF"/>
                </a:solidFill>
                <a:latin typeface="PingFang SC"/>
              </a:rPr>
              <a:t>表达成本高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70448" y="2852928"/>
            <a:ext cx="4315968" cy="106070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36" y="2871216"/>
            <a:ext cx="4279392" cy="1024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71616" y="3163824"/>
            <a:ext cx="3794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8FF"/>
                </a:solidFill>
                <a:latin typeface="PingFang SC"/>
              </a:rPr>
              <a:t>试错成本高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334256"/>
            <a:ext cx="4315968" cy="106070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52544"/>
            <a:ext cx="4279392" cy="1024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9848" y="4645152"/>
            <a:ext cx="3794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8FF"/>
                </a:solidFill>
                <a:latin typeface="PingFang SC"/>
              </a:rPr>
              <a:t>跨端一致性差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0448" y="4334256"/>
            <a:ext cx="4315968" cy="106070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4352544"/>
            <a:ext cx="4279392" cy="10241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71616" y="4645152"/>
            <a:ext cx="3794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F8FF"/>
                </a:solidFill>
                <a:latin typeface="PingFang SC"/>
              </a:rPr>
              <a:t>反馈链路长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1920240"/>
            <a:ext cx="310896" cy="3611880"/>
          </a:xfrm>
          <a:prstGeom prst="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1938528"/>
            <a:ext cx="274320" cy="35753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旧范式 vs 新范式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从“手写属性”切到“表达意图”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691640"/>
            <a:ext cx="5257800" cy="40690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1709928"/>
            <a:ext cx="5221224" cy="403250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1691640"/>
            <a:ext cx="5166360" cy="40690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709928"/>
            <a:ext cx="5129784" cy="4032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196596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B7185"/>
                </a:solidFill>
                <a:latin typeface="PingFang SC"/>
              </a:rPr>
              <a:t>旧范式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PingFang SC"/>
              </a:rPr>
              <a:t>新范式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6032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F4F8FF"/>
                </a:solidFill>
                <a:latin typeface="PingFang SC"/>
              </a:rPr>
              <a:t>• 先想 CSS 属性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0156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F4F8FF"/>
                </a:solidFill>
                <a:latin typeface="PingFang SC"/>
              </a:rPr>
              <a:t>• 一条一条试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24281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F4F8FF"/>
                </a:solidFill>
                <a:latin typeface="PingFang SC"/>
              </a:rPr>
              <a:t>• 人肉反复试错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56032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F4F8FF"/>
                </a:solidFill>
                <a:latin typeface="PingFang SC"/>
              </a:rPr>
              <a:t>• 先说清界面意图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0156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F4F8FF"/>
                </a:solidFill>
                <a:latin typeface="PingFang SC"/>
              </a:rPr>
              <a:t>• AI 给第一版结果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4281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F4F8FF"/>
                </a:solidFill>
                <a:latin typeface="PingFang SC"/>
              </a:rPr>
              <a:t>• Tailwind 做受约束表达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68112" y="2011680"/>
            <a:ext cx="91440" cy="3246120"/>
          </a:xfrm>
          <a:prstGeom prst="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029968"/>
            <a:ext cx="54864" cy="3209544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337560" y="5230368"/>
            <a:ext cx="4617720" cy="38404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848" y="5248656"/>
            <a:ext cx="4581144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74720" y="5330952"/>
            <a:ext cx="429768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F4F8FF"/>
                </a:solidFill>
                <a:latin typeface="PingFang SC"/>
              </a:rPr>
              <a:t>核心转折：以前写的是属性，现在写的是意图。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77056" y="1225296"/>
            <a:ext cx="4389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20" b="0">
                <a:solidFill>
                  <a:srgbClr val="94A3B8"/>
                </a:solidFill>
                <a:latin typeface="PingFang SC"/>
              </a:rPr>
              <a:t>这页要停顿一下再讲。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先看结果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一句话，AI 出一版卡片样式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623560" cy="425196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55648"/>
            <a:ext cx="5586984" cy="421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7552" y="1847088"/>
            <a:ext cx="5257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Prompt 示例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21408"/>
            <a:ext cx="52578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请帮我生成一组适合小程序页面的 Tailwind 类名，不要写 CSS。</a:t>
            </a:r>
            <a:br/>
            <a:r>
              <a:t>目标是一个渐变卡片：</a:t>
            </a:r>
            <a:br/>
            <a:r>
              <a:t>- 大圆角</a:t>
            </a:r>
            <a:br/>
            <a:r>
              <a:t>- 蓝青色渐变背景</a:t>
            </a:r>
            <a:br/>
            <a:r>
              <a:t>- 柔和阴影</a:t>
            </a:r>
            <a:br/>
            <a:r>
              <a:t>- 标题 32rpx，加粗</a:t>
            </a:r>
            <a:br/>
            <a:r>
              <a:t>- 副标题 24rpx，透明度略低</a:t>
            </a:r>
            <a:br/>
            <a:r>
              <a:t>- 底部一个白底深色字按钮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9712" y="1920240"/>
            <a:ext cx="4407408" cy="3547872"/>
          </a:xfrm>
          <a:prstGeom prst="roundRect">
            <a:avLst/>
          </a:prstGeom>
          <a:noFill/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938528"/>
            <a:ext cx="4370832" cy="35112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59752" y="23042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4F8FF"/>
                </a:solidFill>
                <a:latin typeface="PingFang SC"/>
              </a:rPr>
              <a:t>渐变卡片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278892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ingFang SC"/>
              </a:rPr>
              <a:t>AI 直接生成第一版 UI 语言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419856"/>
            <a:ext cx="1517904" cy="301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3438144"/>
            <a:ext cx="1481328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33488" y="3474720"/>
            <a:ext cx="3108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8FF"/>
                </a:solidFill>
                <a:latin typeface="PingFang SC"/>
              </a:rPr>
              <a:t>渐变卡片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3858768"/>
            <a:ext cx="1517904" cy="301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3877056"/>
            <a:ext cx="1481328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3488" y="3913631"/>
            <a:ext cx="3108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8FF"/>
                </a:solidFill>
                <a:latin typeface="PingFang SC"/>
              </a:rPr>
              <a:t>大圆角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50608" y="4297680"/>
            <a:ext cx="1517904" cy="301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4315968"/>
            <a:ext cx="1481328" cy="265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33488" y="4352544"/>
            <a:ext cx="3108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8FF"/>
                </a:solidFill>
                <a:latin typeface="PingFang SC"/>
              </a:rPr>
              <a:t>柔和阴影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50608" y="4736592"/>
            <a:ext cx="1517904" cy="301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4754880"/>
            <a:ext cx="1481328" cy="265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33488" y="4791456"/>
            <a:ext cx="3108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8FF"/>
                </a:solidFill>
                <a:latin typeface="PingFang SC"/>
              </a:rPr>
              <a:t>标题 / 副标题 / CTA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513832"/>
            <a:ext cx="5212080" cy="31089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532120"/>
            <a:ext cx="5175504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24128" y="5596128"/>
            <a:ext cx="48920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PingFang SC"/>
              </a:rPr>
              <a:t>讲法提示：别先讲 Prompt 技巧，先让观众看到“结果真的出来了”。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59168" y="5285232"/>
            <a:ext cx="1170432" cy="2743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5303520"/>
            <a:ext cx="1133856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059168" y="5358384"/>
            <a:ext cx="1170432" cy="109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F4F8FF"/>
                </a:solidFill>
                <a:latin typeface="PingFang SC"/>
              </a:rPr>
              <a:t>描述界面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5285232"/>
            <a:ext cx="1170432" cy="2743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0768" y="5303520"/>
            <a:ext cx="1133856" cy="2377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412480" y="5358384"/>
            <a:ext cx="1170432" cy="109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F4F8FF"/>
                </a:solidFill>
                <a:latin typeface="PingFang SC"/>
              </a:rPr>
              <a:t>拿到类名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65792" y="5285232"/>
            <a:ext cx="1170432" cy="2743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303520"/>
            <a:ext cx="1133856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65792" y="5358384"/>
            <a:ext cx="1170432" cy="109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F4F8FF"/>
                </a:solidFill>
                <a:latin typeface="PingFang SC"/>
              </a:rPr>
              <a:t>直接贴进页面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1408176"/>
            <a:ext cx="3657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22D3EE"/>
                </a:solidFill>
                <a:latin typeface="PingFang SC"/>
              </a:rPr>
              <a:t>先看结果，再回头拆过程。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为什么是 Tailwind，不是直接写 CSS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Tailwind 是更适合 AI 的样式语言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3886200" cy="36118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847088"/>
            <a:ext cx="3849624" cy="3575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0432" y="224028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D3EE"/>
                </a:solidFill>
                <a:latin typeface="PingFang SC"/>
              </a:rPr>
              <a:t>结构化语言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907792"/>
            <a:ext cx="30632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4F8FF"/>
                </a:solidFill>
                <a:latin typeface="PingFang SC"/>
              </a:rPr>
              <a:t>比自由 CSS 更可枚举、更可约束，也更适合 AI 稳定输出。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8928" y="1874519"/>
            <a:ext cx="2697480" cy="1444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1892807"/>
            <a:ext cx="2660904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38928" y="2377439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可枚举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874519"/>
            <a:ext cx="2697480" cy="1444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892807"/>
            <a:ext cx="2660904" cy="1408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56448" y="2377439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可组合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8928" y="3730752"/>
            <a:ext cx="2697480" cy="1444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3749040"/>
            <a:ext cx="2660904" cy="1408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38928" y="4233672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可约束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6448" y="3730752"/>
            <a:ext cx="2697480" cy="14447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3749040"/>
            <a:ext cx="2660904" cy="14081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56448" y="4233672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更稳定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三层模型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意图 -&gt; 原子类 -&gt; 小程序适配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2834640" cy="51206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801368"/>
            <a:ext cx="2798064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2415" y="1920240"/>
            <a:ext cx="2468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PingFang SC"/>
              </a:rPr>
              <a:t>记住这一张，整场直播都在解释它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23160"/>
            <a:ext cx="2743200" cy="16459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441448"/>
            <a:ext cx="2706624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9848" y="2761488"/>
            <a:ext cx="2331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F8FF"/>
                </a:solidFill>
                <a:latin typeface="PingFang SC"/>
              </a:rPr>
              <a:t>你：描述界面意图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88036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94A3B8"/>
                </a:solidFill>
                <a:latin typeface="PingFang S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423160"/>
            <a:ext cx="2743200" cy="16459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568" y="2441448"/>
            <a:ext cx="2706624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7448" y="2761488"/>
            <a:ext cx="2331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F8FF"/>
                </a:solidFill>
                <a:latin typeface="PingFang SC"/>
              </a:rPr>
              <a:t>AI：生成 Tailwind 类名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88036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94A3B8"/>
                </a:solidFill>
                <a:latin typeface="PingFang S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2423160"/>
            <a:ext cx="2743200" cy="16459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167" y="2441448"/>
            <a:ext cx="2706624" cy="16093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85047" y="2761488"/>
            <a:ext cx="23317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F8FF"/>
                </a:solidFill>
                <a:latin typeface="PingFang SC"/>
              </a:rPr>
              <a:t>weapp-tailwindcss：翻译成小程序结果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663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PingFang SC"/>
              </a:rPr>
              <a:t>AI 不直接对接小程序，它先对接 Tailwind 这层表达语言。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1783080"/>
            <a:ext cx="2633472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3296" y="1801368"/>
            <a:ext cx="2596896" cy="4023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11312" y="1901952"/>
            <a:ext cx="233172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22D3EE"/>
                </a:solidFill>
                <a:latin typeface="PingFang SC"/>
              </a:rPr>
              <a:t>先对接 Tailwind，再对接小程序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577840"/>
            <a:ext cx="475488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94A3B8"/>
                </a:solidFill>
                <a:latin typeface="PingFang SC"/>
              </a:rPr>
              <a:t>你讲完这一页，观众应该已经知道整条链路怎么记。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weapp-tailwindcss 在做什么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不只是插件，而是一条工程链路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481328"/>
            <a:ext cx="4526280" cy="343814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1499616"/>
            <a:ext cx="4489704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93992" y="1572768"/>
            <a:ext cx="41970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Architecture</a:t>
            </a:r>
          </a:p>
        </p:txBody>
      </p:sp>
      <p:pic>
        <p:nvPicPr>
          <p:cNvPr id="10" name="Picture 9" descr="tailwindcss-v4-uniapp-lay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1810512"/>
            <a:ext cx="4023360" cy="2834640"/>
          </a:xfrm>
          <a:prstGeom prst="rect">
            <a:avLst/>
          </a:prstGeom>
        </p:spPr>
      </p:pic>
      <p:pic>
        <p:nvPicPr>
          <p:cNvPr id="11" name="Picture 10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1664208"/>
            <a:ext cx="1874519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408" y="1755648"/>
            <a:ext cx="1655063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20" b="1">
                <a:solidFill>
                  <a:srgbClr val="22D3EE"/>
                </a:solidFill>
                <a:latin typeface="PingFang SC"/>
              </a:rPr>
              <a:t>不是插件，是链路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919472"/>
            <a:ext cx="5120640" cy="54864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937760"/>
            <a:ext cx="5084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33272" y="5047488"/>
            <a:ext cx="48280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Tailwind 小程序全方面解决方案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6424" y="4251960"/>
            <a:ext cx="4663440" cy="54864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270248"/>
            <a:ext cx="46268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1016" y="4379976"/>
            <a:ext cx="4370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多构建工具基底支持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44168" y="3584448"/>
            <a:ext cx="4206240" cy="54864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2456" y="3602736"/>
            <a:ext cx="4169664" cy="5120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08760" y="3712464"/>
            <a:ext cx="39136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多框架、多端与运行时适配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81912" y="2916936"/>
            <a:ext cx="3749039" cy="54864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35224"/>
            <a:ext cx="3712463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46504" y="3044952"/>
            <a:ext cx="34564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把“能写 Tailwind”升级成“能稳定运行”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支持范围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覆盖主流小程序开发路线</a:t>
            </a:r>
          </a:p>
        </p:txBody>
      </p:sp>
      <p:pic>
        <p:nvPicPr>
          <p:cNvPr id="7" name="Picture 6" descr="weapp-tw-plug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47088"/>
            <a:ext cx="4983480" cy="1783080"/>
          </a:xfrm>
          <a:prstGeom prst="rect">
            <a:avLst/>
          </a:prstGeom>
        </p:spPr>
      </p:pic>
      <p:pic>
        <p:nvPicPr>
          <p:cNvPr id="8" name="Picture 7" descr="weapp-tw-framewor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847088"/>
            <a:ext cx="4983480" cy="1783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" y="4315968"/>
            <a:ext cx="1481328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334256"/>
            <a:ext cx="144475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" y="4425696"/>
            <a:ext cx="148132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4F8FF"/>
                </a:solidFill>
                <a:latin typeface="PingFang SC"/>
              </a:rPr>
              <a:t>webpack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1" y="4315968"/>
            <a:ext cx="1481328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7479" y="4334256"/>
            <a:ext cx="1444752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79191" y="4425696"/>
            <a:ext cx="148132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4F8FF"/>
                </a:solidFill>
                <a:latin typeface="PingFang SC"/>
              </a:rPr>
              <a:t>vite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4315968"/>
            <a:ext cx="1481328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4334256"/>
            <a:ext cx="144475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62272" y="4425696"/>
            <a:ext cx="148132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4F8FF"/>
                </a:solidFill>
                <a:latin typeface="PingFang SC"/>
              </a:rPr>
              <a:t>rspack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315968"/>
            <a:ext cx="1481328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34256"/>
            <a:ext cx="144475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45352" y="4425696"/>
            <a:ext cx="148132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4F8FF"/>
                </a:solidFill>
                <a:latin typeface="PingFang SC"/>
              </a:rPr>
              <a:t>rollup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315968"/>
            <a:ext cx="1481328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9" y="4334256"/>
            <a:ext cx="144475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28431" y="4425696"/>
            <a:ext cx="148132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4F8FF"/>
                </a:solidFill>
                <a:latin typeface="PingFang SC"/>
              </a:rPr>
              <a:t>rolldown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11512" y="4315968"/>
            <a:ext cx="1481328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4334256"/>
            <a:ext cx="1444752" cy="4389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811512" y="4425696"/>
            <a:ext cx="148132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4F8FF"/>
                </a:solidFill>
                <a:latin typeface="PingFang SC"/>
              </a:rPr>
              <a:t>gulp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102352"/>
            <a:ext cx="9875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94A3B8"/>
                </a:solidFill>
                <a:latin typeface="PingFang SC"/>
              </a:rPr>
              <a:t>支持的是这些构建工具基底，以及其上游框架生态。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仓库不是 PPT 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它同时有 demo、templates、Skill、E2E、benchmark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841248"/>
            <a:ext cx="4800600" cy="76809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859536"/>
            <a:ext cx="4764024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932688"/>
            <a:ext cx="447141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Brand</a:t>
            </a:r>
          </a:p>
        </p:txBody>
      </p:sp>
      <p:pic>
        <p:nvPicPr>
          <p:cNvPr id="10" name="Picture 9" descr="logo-text-colorfu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1005840"/>
            <a:ext cx="4160520" cy="4206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19088" y="1664208"/>
            <a:ext cx="4754880" cy="29718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1682496"/>
            <a:ext cx="4718304" cy="2935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0" y="1755648"/>
            <a:ext cx="44256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Release</a:t>
            </a:r>
          </a:p>
        </p:txBody>
      </p:sp>
      <p:pic>
        <p:nvPicPr>
          <p:cNvPr id="14" name="Picture 13" descr="v4-rele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256" y="1956816"/>
            <a:ext cx="4370832" cy="2468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19088" y="4681728"/>
            <a:ext cx="4754880" cy="131673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4700016"/>
            <a:ext cx="4718304" cy="1280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0" y="4773168"/>
            <a:ext cx="44256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Showcase</a:t>
            </a:r>
          </a:p>
        </p:txBody>
      </p:sp>
      <p:pic>
        <p:nvPicPr>
          <p:cNvPr id="18" name="Picture 17" descr="showcase-coll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392" y="4882896"/>
            <a:ext cx="4462272" cy="9326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01968" y="5943600"/>
            <a:ext cx="4206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PingFang SC"/>
              </a:rPr>
              <a:t>不是概念图，是真仓库、真模板、真发布节奏，也有真实落地案例。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1792224"/>
            <a:ext cx="5074920" cy="5303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810512"/>
            <a:ext cx="5038344" cy="4937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33272" y="1929384"/>
            <a:ext cx="4617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8FF"/>
                </a:solidFill>
                <a:latin typeface="PingFang SC"/>
              </a:rPr>
              <a:t>demo/*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2542032"/>
            <a:ext cx="5074920" cy="5303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nel-gradient-a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2560320"/>
            <a:ext cx="5038344" cy="4937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33272" y="2679192"/>
            <a:ext cx="4617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8FF"/>
                </a:solidFill>
                <a:latin typeface="PingFang SC"/>
              </a:rPr>
              <a:t>templates.jsonc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291839"/>
            <a:ext cx="5074920" cy="5303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310127"/>
            <a:ext cx="5038344" cy="4937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33272" y="3428999"/>
            <a:ext cx="4617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8FF"/>
                </a:solidFill>
                <a:latin typeface="PingFang SC"/>
              </a:rPr>
              <a:t>skills/weapp-tailwindcss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041648"/>
            <a:ext cx="5074920" cy="5303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anel-gradient-a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059936"/>
            <a:ext cx="5038344" cy="4937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3272" y="4178808"/>
            <a:ext cx="4617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8FF"/>
                </a:solidFill>
                <a:latin typeface="PingFang SC"/>
              </a:rPr>
              <a:t>watch / HMR 回归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791456"/>
            <a:ext cx="5074920" cy="53035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809744"/>
            <a:ext cx="5038344" cy="49377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33272" y="4928616"/>
            <a:ext cx="4617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8FF"/>
                </a:solidFill>
                <a:latin typeface="PingFang SC"/>
              </a:rPr>
              <a:t>framework benchmark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主 Demo 选型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demo/uni-app-tailwindcss-v4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00784"/>
            <a:ext cx="5394960" cy="38404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719072"/>
            <a:ext cx="5358384" cy="38039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2" y="1792224"/>
            <a:ext cx="506577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Demo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1488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PingFang SC"/>
              </a:rPr>
              <a:t>主讲目录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5420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4F8FF"/>
                </a:solidFill>
                <a:latin typeface="PingFang SC"/>
              </a:rPr>
              <a:t>demo/uni-app-tailwindcss-v4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20624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8FF"/>
                </a:solidFill>
                <a:latin typeface="PingFang SC"/>
              </a:rPr>
              <a:t>现场适合展示 patch、vite 插件、样式入口和页面类名。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1700784"/>
            <a:ext cx="4754880" cy="219456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1719072"/>
            <a:ext cx="4718304" cy="2157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181051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index.vue 真实片段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084832"/>
            <a:ext cx="4389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&lt;view :class="className" class="aspect-[calc(4*3+1)/3]"&gt;</a:t>
            </a:r>
            <a:br/>
            <a:r>
              <a:t>  {{ className }}</a:t>
            </a:r>
            <a:br/>
            <a:r>
              <a:t>&lt;/view&gt;</a:t>
            </a:r>
            <a:br/>
            <a:br/>
            <a:r>
              <a:t>const className = ref(</a:t>
            </a:r>
            <a:br/>
            <a:r>
              <a:t>  'bg-[#0000ff] text-[45rpx] text-white'</a:t>
            </a:r>
            <a:br/>
            <a:r>
              <a:t>)</a:t>
            </a:r>
          </a:p>
        </p:txBody>
      </p:sp>
      <p:pic>
        <p:nvPicPr>
          <p:cNvPr id="17" name="Picture 1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4096512"/>
            <a:ext cx="749808" cy="749808"/>
          </a:xfrm>
          <a:prstGeom prst="rect">
            <a:avLst/>
          </a:prstGeom>
        </p:spPr>
      </p:pic>
      <p:pic>
        <p:nvPicPr>
          <p:cNvPr id="18" name="Picture 17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864608"/>
            <a:ext cx="448056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61872" y="4946904"/>
            <a:ext cx="415137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F4F8FF"/>
                </a:solidFill>
                <a:latin typeface="PingFang SC"/>
              </a:rPr>
              <a:t>演示顺序：patch -&gt; vite 插件 -&gt; main.css -&gt; 页面类名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4572000"/>
            <a:ext cx="1993392" cy="8686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590288"/>
            <a:ext cx="1956816" cy="8321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65392" y="484632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直观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59952" y="4572000"/>
            <a:ext cx="1993392" cy="8686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4590288"/>
            <a:ext cx="1956816" cy="8321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59952" y="4846320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稳定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65392" y="5358384"/>
            <a:ext cx="1993392" cy="8686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5376672"/>
            <a:ext cx="1956816" cy="83210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65392" y="5632704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贴近日常业务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59952" y="5358384"/>
            <a:ext cx="1993392" cy="8686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376672"/>
            <a:ext cx="1956816" cy="83210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759952" y="5632704"/>
            <a:ext cx="19933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8FF"/>
                </a:solidFill>
                <a:latin typeface="PingFang SC"/>
              </a:rPr>
              <a:t>适合直播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关键配置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postinstall: "weapp-tw patch"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572768"/>
            <a:ext cx="10469880" cy="43159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591056"/>
            <a:ext cx="10433304" cy="4279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2" y="1664208"/>
            <a:ext cx="101406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Config Panel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1810512"/>
            <a:ext cx="10222992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28800"/>
            <a:ext cx="10186416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3584" y="1993392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4F8FF"/>
                </a:solidFill>
                <a:latin typeface="PingFang SC"/>
              </a:rPr>
              <a:t>真实配置片段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706624"/>
            <a:ext cx="5961888" cy="2743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24912"/>
            <a:ext cx="5925312" cy="2706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2144" y="2816352"/>
            <a:ext cx="5596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package.json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090672"/>
            <a:ext cx="5596128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{</a:t>
            </a:r>
            <a:br/>
            <a:r>
              <a:t>  "scripts": {</a:t>
            </a:r>
            <a:br/>
            <a:r>
              <a:t>    "dev": "npm run dev:mp-weixin",</a:t>
            </a:r>
            <a:br/>
            <a:r>
              <a:t>    "build:mp-weixin": "node ../../scripts/uni-build-guard.mjs build -p mp-weixin",</a:t>
            </a:r>
            <a:br/>
            <a:r>
              <a:t>    "postinstall": "weapp-tw patch"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2761488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2779776"/>
            <a:ext cx="3584448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88352" y="2907792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patch 链路不能漏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3621024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3639312"/>
            <a:ext cx="3584448" cy="5303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8352" y="3767328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任意值问题常和它有关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4480560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4498848"/>
            <a:ext cx="3584448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88352" y="4626864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JS / TS 字符串 class 也常和它有关</a:t>
            </a:r>
          </a:p>
        </p:txBody>
      </p:sp>
      <p:pic>
        <p:nvPicPr>
          <p:cNvPr id="26" name="Picture 25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5504688"/>
            <a:ext cx="3611880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06640" y="5586984"/>
            <a:ext cx="328269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F4F8FF"/>
                </a:solidFill>
                <a:latin typeface="PingFang SC"/>
              </a:rPr>
              <a:t>很多坑其实不是 Tailwind 本身，而是 patch 没接好。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关键配置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vite.config.ts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572768"/>
            <a:ext cx="10469880" cy="43159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591056"/>
            <a:ext cx="10433304" cy="4279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2" y="1664208"/>
            <a:ext cx="101406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Config Panel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1810512"/>
            <a:ext cx="10222992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28800"/>
            <a:ext cx="10186416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3584" y="1993392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4F8FF"/>
                </a:solidFill>
                <a:latin typeface="PingFang SC"/>
              </a:rPr>
              <a:t>插件链路片段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706624"/>
            <a:ext cx="5961888" cy="2743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24912"/>
            <a:ext cx="5925312" cy="2706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2144" y="2816352"/>
            <a:ext cx="5596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vite.config.ts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090672"/>
            <a:ext cx="5596128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plugins: [</a:t>
            </a:r>
            <a:br/>
            <a:r>
              <a:t>  uni(),</a:t>
            </a:r>
            <a:br/>
            <a:r>
              <a:t>  tailwindcss(),</a:t>
            </a:r>
            <a:br/>
            <a:r>
              <a:t>  UnifiedViteWeappTailwindcssPlugin({</a:t>
            </a:r>
            <a:br/>
            <a:r>
              <a:t>    rem2rpx: true,</a:t>
            </a:r>
            <a:br/>
            <a:r>
              <a:t>    cssEntries: [</a:t>
            </a:r>
            <a:br/>
            <a:r>
              <a:t>      path.resolve(__dirname, "src/main.css"),</a:t>
            </a:r>
            <a:br/>
            <a:r>
              <a:t>      path.resolve(__dirname, "src/common.css"),</a:t>
            </a:r>
            <a:br/>
            <a:r>
              <a:t>    ],</a:t>
            </a:r>
            <a:br/>
            <a:r>
              <a:t>  }),</a:t>
            </a:r>
            <a:br/>
            <a:r>
              <a:t>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2761488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2779776"/>
            <a:ext cx="3584448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88352" y="2907792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uni()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3621024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3639312"/>
            <a:ext cx="3584448" cy="5303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8352" y="3767328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Tailwind 插件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4480560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4498848"/>
            <a:ext cx="3584448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88352" y="4626864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UnifiedViteWeappTailwindcssPlugin</a:t>
            </a:r>
          </a:p>
        </p:txBody>
      </p:sp>
      <p:pic>
        <p:nvPicPr>
          <p:cNvPr id="26" name="Picture 25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5504688"/>
            <a:ext cx="3611880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06640" y="5586984"/>
            <a:ext cx="328269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F4F8FF"/>
                </a:solidFill>
                <a:latin typeface="PingFang SC"/>
              </a:rPr>
              <a:t>Tailwind 生成后，还要再过一层小程序适配。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关键配置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src/main.css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572768"/>
            <a:ext cx="10469880" cy="43159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591056"/>
            <a:ext cx="10433304" cy="4279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2" y="1664208"/>
            <a:ext cx="1014069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Config Panel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1810512"/>
            <a:ext cx="10222992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28800"/>
            <a:ext cx="10186416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3584" y="1993392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4F8FF"/>
                </a:solidFill>
                <a:latin typeface="PingFang SC"/>
              </a:rPr>
              <a:t>样式入口片段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706624"/>
            <a:ext cx="5961888" cy="274320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24912"/>
            <a:ext cx="5925312" cy="2706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2144" y="2816352"/>
            <a:ext cx="55961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src/main.css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090672"/>
            <a:ext cx="5596128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@import "weapp-tailwindcss";</a:t>
            </a:r>
            <a:br/>
            <a:r>
              <a:t>@config "../tailwind.config.js";</a:t>
            </a:r>
            <a:br/>
            <a:br/>
            <a:r>
              <a:t>@theme {</a:t>
            </a:r>
            <a:br/>
            <a:r>
              <a:t>  --color-neutral-1B: #1b1b1b;</a:t>
            </a:r>
            <a:br/>
            <a:r>
              <a:t>  --color-midnight: #121063;</a:t>
            </a:r>
            <a:br/>
            <a:r>
              <a:t>  --color-tahiti: #3ab7bf;</a:t>
            </a:r>
            <a:br/>
            <a:r>
              <a:t>  --color-bermuda: #78dcca;</a:t>
            </a:r>
            <a:br/>
            <a:r>
              <a:t>}</a:t>
            </a:r>
          </a:p>
        </p:txBody>
      </p:sp>
      <p:pic>
        <p:nvPicPr>
          <p:cNvPr id="17" name="Picture 1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2011680"/>
            <a:ext cx="914400" cy="914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223760" y="2761488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2779776"/>
            <a:ext cx="3584448" cy="5303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88352" y="2907792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Tailwind 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3760" y="3621024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3639312"/>
            <a:ext cx="3584448" cy="5303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88352" y="3767328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主题变量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480560"/>
            <a:ext cx="3621024" cy="56692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4498848"/>
            <a:ext cx="3584448" cy="5303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88352" y="4626864"/>
            <a:ext cx="32735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配置承载点</a:t>
            </a:r>
          </a:p>
        </p:txBody>
      </p:sp>
      <p:pic>
        <p:nvPicPr>
          <p:cNvPr id="27" name="Picture 26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5504688"/>
            <a:ext cx="3611880" cy="3108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06640" y="5586984"/>
            <a:ext cx="328269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F4F8FF"/>
                </a:solidFill>
                <a:latin typeface="PingFang SC"/>
              </a:rPr>
              <a:t>这不是业务 CSS 杂物间，而是原子类入口。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AI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让 AI 不只是写代码，而是按流程做事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572768"/>
            <a:ext cx="4041648" cy="173736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591056"/>
            <a:ext cx="4005072" cy="17007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33272" y="1664208"/>
            <a:ext cx="371246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Skill 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" y="1810512"/>
            <a:ext cx="3767328" cy="129844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1828800"/>
            <a:ext cx="3730752" cy="1261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52144" y="1920240"/>
            <a:ext cx="34015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Skill 输入风格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194560"/>
            <a:ext cx="3401568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我现在是 uni-app cli vue3 vite 项目，目标端是微信小程序 + H5。</a:t>
            </a:r>
            <a:br/>
            <a:r>
              <a:t>请按 weapp-tailwindcss skill 给我最小可用配置。</a:t>
            </a:r>
            <a:br/>
            <a:r>
              <a:t>输出需要包含：</a:t>
            </a:r>
            <a:br/>
            <a:r>
              <a:t>1. 安装命令</a:t>
            </a:r>
            <a:br/>
            <a:r>
              <a:t>2. 完整配置文件</a:t>
            </a:r>
            <a:br/>
            <a:r>
              <a:t>3. 页面示例</a:t>
            </a:r>
            <a:br/>
            <a:r>
              <a:t>4. 验证步骤</a:t>
            </a:r>
            <a:br/>
            <a:r>
              <a:t>5. 回滚方案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1572768"/>
            <a:ext cx="3913632" cy="786384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1591056"/>
            <a:ext cx="3877056" cy="7498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24928" y="1664208"/>
            <a:ext cx="358444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Brand</a:t>
            </a:r>
          </a:p>
        </p:txBody>
      </p:sp>
      <p:pic>
        <p:nvPicPr>
          <p:cNvPr id="17" name="Picture 16" descr="logo-text-colorfu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9792" y="1783080"/>
            <a:ext cx="3383280" cy="40233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3703320"/>
            <a:ext cx="2148840" cy="9326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721608"/>
            <a:ext cx="2112264" cy="8961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3816" y="3941063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50" b="1">
                <a:solidFill>
                  <a:srgbClr val="F4F8FF"/>
                </a:solidFill>
                <a:latin typeface="PingFang SC"/>
              </a:rPr>
              <a:t>先收集上下文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3931920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94A3B8"/>
                </a:solidFill>
                <a:latin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3703320"/>
            <a:ext cx="2148840" cy="9326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3721608"/>
            <a:ext cx="2112264" cy="8961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48456" y="3941063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50" b="1">
                <a:solidFill>
                  <a:srgbClr val="F4F8FF"/>
                </a:solidFill>
                <a:latin typeface="PingFang SC"/>
              </a:rPr>
              <a:t>再输出配置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3288" y="3931920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94A3B8"/>
                </a:solidFill>
                <a:latin typeface="PingFang S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03320"/>
            <a:ext cx="2148840" cy="9326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721608"/>
            <a:ext cx="2112264" cy="8961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83096" y="3941063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50" b="1">
                <a:solidFill>
                  <a:srgbClr val="F4F8FF"/>
                </a:solidFill>
                <a:latin typeface="PingFang SC"/>
              </a:rPr>
              <a:t>再给验证步骤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67928" y="3931920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94A3B8"/>
                </a:solidFill>
                <a:latin typeface="PingFang SC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3703320"/>
            <a:ext cx="2148840" cy="9326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8008" y="3721608"/>
            <a:ext cx="2112264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317736" y="3941063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50" b="1">
                <a:solidFill>
                  <a:srgbClr val="F4F8FF"/>
                </a:solidFill>
                <a:latin typeface="PingFang SC"/>
              </a:rPr>
              <a:t>再给回滚方案</a:t>
            </a:r>
          </a:p>
        </p:txBody>
      </p:sp>
      <p:pic>
        <p:nvPicPr>
          <p:cNvPr id="33" name="Picture 3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486400"/>
            <a:ext cx="6812280" cy="31089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33272" y="5568696"/>
            <a:ext cx="648309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F4F8FF"/>
                </a:solidFill>
                <a:latin typeface="PingFang SC"/>
              </a:rPr>
              <a:t>好的 Skill 不只是更会写代码，而是更会按流程交付。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Skill 先问什么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最小上下文决定方案质量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5852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4F8FF"/>
                </a:solidFill>
                <a:latin typeface="PingFang SC"/>
              </a:rPr>
              <a:t>先问对，再输出。</a:t>
            </a:r>
            <a:br/>
            <a:r>
              <a:t>上下文不完整，AI 只会把错误放大。</a:t>
            </a:r>
          </a:p>
        </p:txBody>
      </p:sp>
      <p:pic>
        <p:nvPicPr>
          <p:cNvPr id="8" name="Picture 7" descr="create-pro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719072"/>
            <a:ext cx="3246120" cy="15727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" y="3154680"/>
            <a:ext cx="1645920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nel-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172968"/>
            <a:ext cx="1609344" cy="621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" y="3328416"/>
            <a:ext cx="1645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4F8FF"/>
                </a:solidFill>
                <a:latin typeface="PingFang SC"/>
              </a:rPr>
              <a:t>框架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3154680"/>
            <a:ext cx="1645920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7792" y="3172968"/>
            <a:ext cx="1609344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89504" y="3328416"/>
            <a:ext cx="1645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4F8FF"/>
                </a:solidFill>
                <a:latin typeface="PingFang SC"/>
              </a:rPr>
              <a:t>构建器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82896" y="3154680"/>
            <a:ext cx="1645920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1184" y="3172968"/>
            <a:ext cx="1609344" cy="6217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82896" y="3328416"/>
            <a:ext cx="1645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4F8FF"/>
                </a:solidFill>
                <a:latin typeface="PingFang SC"/>
              </a:rPr>
              <a:t>目标端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4178808"/>
            <a:ext cx="1645920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197096"/>
            <a:ext cx="1609344" cy="6217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6112" y="4352544"/>
            <a:ext cx="1645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4F8FF"/>
                </a:solidFill>
                <a:latin typeface="PingFang SC"/>
              </a:rPr>
              <a:t>Tailwind 版本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9504" y="4178808"/>
            <a:ext cx="1645920" cy="65836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7792" y="4197096"/>
            <a:ext cx="1609344" cy="62179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889504" y="4352544"/>
            <a:ext cx="1645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4F8FF"/>
                </a:solidFill>
                <a:latin typeface="PingFang SC"/>
              </a:rPr>
              <a:t>包管理器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3675887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94A3B8"/>
                </a:solidFill>
                <a:latin typeface="PingFang SC"/>
              </a:rPr>
              <a:t>上下文不完整，AI 就会四处漏风。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Skill 输出什么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不是一段代码，而是一套落地结果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572768"/>
            <a:ext cx="3730752" cy="18105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5" y="1591056"/>
            <a:ext cx="3694176" cy="1773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19" y="1664208"/>
            <a:ext cx="340156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Result Snapshot</a:t>
            </a:r>
          </a:p>
        </p:txBody>
      </p:sp>
      <p:pic>
        <p:nvPicPr>
          <p:cNvPr id="10" name="Picture 9" descr="create-proj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2" y="1847088"/>
            <a:ext cx="3273552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1755648"/>
            <a:ext cx="5852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4F8FF"/>
                </a:solidFill>
                <a:latin typeface="PingFang SC"/>
              </a:rPr>
              <a:t>输出不是“建议”。输出应该是可复制、可验证、可回滚。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78608"/>
            <a:ext cx="2926080" cy="9601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2596896"/>
            <a:ext cx="2889504" cy="923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4984" y="2871216"/>
            <a:ext cx="26334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4F8FF"/>
                </a:solidFill>
                <a:latin typeface="PingFang SC"/>
              </a:rPr>
              <a:t>修改文件清单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2578608"/>
            <a:ext cx="2926080" cy="9601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2596896"/>
            <a:ext cx="2889504" cy="923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72584" y="2871216"/>
            <a:ext cx="26334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4F8FF"/>
                </a:solidFill>
                <a:latin typeface="PingFang SC"/>
              </a:rPr>
              <a:t>可复制配置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2578608"/>
            <a:ext cx="2926080" cy="9601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7" y="2596896"/>
            <a:ext cx="2889504" cy="923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30183" y="2871216"/>
            <a:ext cx="26334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4F8FF"/>
                </a:solidFill>
                <a:latin typeface="PingFang SC"/>
              </a:rPr>
              <a:t>安装命令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950208"/>
            <a:ext cx="2926080" cy="9601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3968496"/>
            <a:ext cx="2889504" cy="923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4984" y="4242816"/>
            <a:ext cx="26334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4F8FF"/>
                </a:solidFill>
                <a:latin typeface="PingFang SC"/>
              </a:rPr>
              <a:t>验证步骤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80" y="3950208"/>
            <a:ext cx="2926080" cy="9601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4568" y="3968496"/>
            <a:ext cx="2889504" cy="9235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72584" y="4242816"/>
            <a:ext cx="26334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4F8FF"/>
                </a:solidFill>
                <a:latin typeface="PingFang SC"/>
              </a:rPr>
              <a:t>回滚方案</a:t>
            </a:r>
          </a:p>
        </p:txBody>
      </p:sp>
      <p:pic>
        <p:nvPicPr>
          <p:cNvPr id="27" name="Picture 26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3611880"/>
            <a:ext cx="3108960" cy="3108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708392" y="3694176"/>
            <a:ext cx="277977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0" b="0">
                <a:solidFill>
                  <a:srgbClr val="F4F8FF"/>
                </a:solidFill>
                <a:latin typeface="PingFang SC"/>
              </a:rPr>
              <a:t>团队价值不在回答，而在可落地结果。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这些地方最容易踩坑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8FF"/>
                </a:solidFill>
                <a:latin typeface="PingFang SC"/>
              </a:rPr>
              <a:t>最容易翻车的不是语法。</a:t>
            </a:r>
            <a:br/>
            <a:r>
              <a:t>而是类名生成、枚举边界和端侧约束。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737360"/>
            <a:ext cx="4572000" cy="210312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755648"/>
            <a:ext cx="4535424" cy="2066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2552" y="1847088"/>
            <a:ext cx="4206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真实写法锚点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21408"/>
            <a:ext cx="4206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E2E8F0"/>
                </a:solidFill>
                <a:latin typeface="Menlo"/>
              </a:rPr>
              <a:t>&lt;view :class="className" class="aspect-[calc(4*3+1)/3]"&gt;</a:t>
            </a:r>
            <a:br/>
            <a:r>
              <a:t>  {{ className }}</a:t>
            </a:r>
            <a:br/>
            <a:r>
              <a:t>&lt;/view&gt;</a:t>
            </a:r>
            <a:br/>
            <a:br/>
            <a:r>
              <a:t>const className = ref(</a:t>
            </a:r>
            <a:br/>
            <a:r>
              <a:t>  'bg-[#0000ff] text-[45rpx] text-white'</a:t>
            </a:r>
            <a:br/>
            <a: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42032"/>
            <a:ext cx="4983480" cy="49377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2560320"/>
            <a:ext cx="4946904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33272" y="2670048"/>
            <a:ext cx="4572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任意值与 rpx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127248"/>
            <a:ext cx="4983480" cy="49377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145536"/>
            <a:ext cx="4946904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33272" y="3255264"/>
            <a:ext cx="4572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动态 class 要枚举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12463"/>
            <a:ext cx="4983480" cy="49377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730751"/>
            <a:ext cx="4946904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3272" y="3840479"/>
            <a:ext cx="4572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space-y / space-x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297679"/>
            <a:ext cx="4983480" cy="49377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nel-gradient-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315967"/>
            <a:ext cx="4946904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33272" y="4425695"/>
            <a:ext cx="4572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twMerge / cva / cn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882896"/>
            <a:ext cx="4983480" cy="49377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901184"/>
            <a:ext cx="4946904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33272" y="5010912"/>
            <a:ext cx="45720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4F8FF"/>
                </a:solidFill>
                <a:latin typeface="PingFang SC"/>
              </a:rPr>
              <a:t>uni-app 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4F8FF"/>
                </a:solidFill>
                <a:latin typeface="PingFang SC"/>
              </a:rPr>
              <a:t>工程信号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87552"/>
            <a:ext cx="8778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PingFang SC"/>
              </a:rPr>
              <a:t>从“能跑”走向“可验证”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3291840" cy="29260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938528"/>
            <a:ext cx="3255264" cy="2889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3856" y="237744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22D3EE"/>
                </a:solidFill>
                <a:latin typeface="PingFang SC"/>
              </a:rPr>
              <a:t>可验证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154680"/>
            <a:ext cx="2560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8FF"/>
                </a:solidFill>
                <a:latin typeface="PingFang SC"/>
              </a:rPr>
              <a:t>重点不是某框架必赢，而是这套生态已经把问题工程化。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00784"/>
            <a:ext cx="3218688" cy="213969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719072"/>
            <a:ext cx="3182112" cy="2103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1792224"/>
            <a:ext cx="288950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Release Signal</a:t>
            </a:r>
          </a:p>
        </p:txBody>
      </p:sp>
      <p:pic>
        <p:nvPicPr>
          <p:cNvPr id="14" name="Picture 13" descr="v4-rele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1975104"/>
            <a:ext cx="2852928" cy="171907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607808" y="1700784"/>
            <a:ext cx="3529584" cy="213969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1719072"/>
            <a:ext cx="3493008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0" y="1792224"/>
            <a:ext cx="3200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Runtime Layer</a:t>
            </a:r>
          </a:p>
        </p:txBody>
      </p:sp>
      <p:pic>
        <p:nvPicPr>
          <p:cNvPr id="18" name="Picture 17" descr="tailwindcss-v4-uniapp-lay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0688" y="1975104"/>
            <a:ext cx="3163824" cy="17190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407408" y="3767328"/>
            <a:ext cx="4370832" cy="1682496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3785616"/>
            <a:ext cx="4334256" cy="1645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0" y="3858768"/>
            <a:ext cx="404164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Showcase Signal</a:t>
            </a:r>
          </a:p>
        </p:txBody>
      </p:sp>
      <p:pic>
        <p:nvPicPr>
          <p:cNvPr id="22" name="Picture 21" descr="showcase-coll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3712" y="4023360"/>
            <a:ext cx="4078224" cy="122529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1051560" y="4498848"/>
            <a:ext cx="2834640" cy="9326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517136"/>
            <a:ext cx="2798064" cy="8961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16152" y="4590288"/>
            <a:ext cx="2505456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4773168"/>
            <a:ext cx="2331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4F8FF"/>
                </a:solidFill>
                <a:latin typeface="PingFang SC"/>
              </a:rPr>
              <a:t>能跑，只是起点。</a:t>
            </a:r>
            <a:br/>
            <a:r>
              <a:t>可验证，才是工程信号。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858768"/>
            <a:ext cx="1965960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5128" y="3877056"/>
            <a:ext cx="1929384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3986784"/>
            <a:ext cx="19659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4F8FF"/>
                </a:solidFill>
                <a:latin typeface="PingFang SC"/>
              </a:rPr>
              <a:t>HMR 报告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4517136"/>
            <a:ext cx="1965960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anel-gradient-a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5128" y="4535424"/>
            <a:ext cx="1929384" cy="4389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06840" y="4645152"/>
            <a:ext cx="19659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4F8FF"/>
                </a:solidFill>
                <a:latin typeface="PingFang SC"/>
              </a:rPr>
              <a:t>framework benchmark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5175504"/>
            <a:ext cx="1965960" cy="47548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anel-gradient-a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5128" y="5193792"/>
            <a:ext cx="1929384" cy="438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06840" y="5303520"/>
            <a:ext cx="19659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4F8FF"/>
                </a:solidFill>
                <a:latin typeface="PingFang SC"/>
              </a:rPr>
              <a:t>用数据讨论体验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972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0" y="6419088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PingFang SC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583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4F8FF"/>
                </a:solidFill>
                <a:latin typeface="PingFang SC"/>
              </a:rPr>
              <a:t>别再把样式开发当体力活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PingFang SC"/>
              </a:rPr>
              <a:t>从下一个页面开始试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713232"/>
            <a:ext cx="3749039" cy="841248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731520"/>
            <a:ext cx="3712463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71232" y="804672"/>
            <a:ext cx="3419855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Brand</a:t>
            </a:r>
          </a:p>
        </p:txBody>
      </p:sp>
      <p:pic>
        <p:nvPicPr>
          <p:cNvPr id="10" name="Picture 9" descr="logo-text-colorfu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932688"/>
            <a:ext cx="3291840" cy="53035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2971800"/>
            <a:ext cx="580644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2990088"/>
            <a:ext cx="5769864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0704" y="3063240"/>
            <a:ext cx="5394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F8FF"/>
                </a:solidFill>
                <a:latin typeface="PingFang SC"/>
              </a:rPr>
              <a:t>AI 写意图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630168"/>
            <a:ext cx="580644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3648456"/>
            <a:ext cx="5769864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3721608"/>
            <a:ext cx="5394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F8FF"/>
                </a:solidFill>
                <a:latin typeface="PingFang SC"/>
              </a:rPr>
              <a:t>Tailwind 做语言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288536"/>
            <a:ext cx="580644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06824"/>
            <a:ext cx="5769864" cy="4023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0704" y="4379976"/>
            <a:ext cx="5394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F8FF"/>
                </a:solidFill>
                <a:latin typeface="PingFang SC"/>
              </a:rPr>
              <a:t>weapp-tailwindcss 负责翻译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946904"/>
            <a:ext cx="5806440" cy="438912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nel-gradient-a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4965192"/>
            <a:ext cx="5769864" cy="4023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60704" y="5038344"/>
            <a:ext cx="5394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F8FF"/>
                </a:solidFill>
                <a:latin typeface="PingFang SC"/>
              </a:rPr>
              <a:t>先跑一个 demo，再用一句真实需求试一次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88352" y="1700784"/>
            <a:ext cx="3675887" cy="3749039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nel-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719072"/>
            <a:ext cx="3639311" cy="37124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52944" y="1792224"/>
            <a:ext cx="3346703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Takeaway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1993392"/>
            <a:ext cx="3383280" cy="3154680"/>
          </a:xfrm>
          <a:prstGeom prst="roundRect">
            <a:avLst/>
          </a:prstGeom>
          <a:noFill/>
          <a:ln>
            <a:solidFill>
              <a:srgbClr val="24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ccent-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2011680"/>
            <a:ext cx="3346704" cy="311810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882127" y="2212848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8FF"/>
                </a:solidFill>
                <a:latin typeface="PingFang SC"/>
              </a:rPr>
              <a:t>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2743200"/>
            <a:ext cx="2423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4F8FF"/>
                </a:solidFill>
                <a:latin typeface="PingFang SC"/>
              </a:rPr>
              <a:t>别再从属性开始。</a:t>
            </a:r>
            <a:br/>
            <a:r>
              <a:t>先从意图开始。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
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01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420624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836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PingFang SC"/>
              </a:rPr>
              <a:t>2026-04-02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61872"/>
            <a:ext cx="6766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4F8FF"/>
                </a:solidFill>
                <a:latin typeface="PingFang SC"/>
              </a:rPr>
              <a:t>小程序还能这么写？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39696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PingFang SC"/>
              </a:rPr>
              <a:t>AI 出样式，Tailwind 跑全端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944368"/>
            <a:ext cx="5440680" cy="1042415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2004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F"/>
                </a:solidFill>
                <a:latin typeface="PingFang SC"/>
              </a:rPr>
              <a:t>一句话描述界面 -&gt; AI 生成 Tailwind 类名 -&gt; weapp-tailwindcss 自动转译 -&gt; 小程序直接预览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36592"/>
            <a:ext cx="182880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4846320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4F8FF"/>
                </a:solidFill>
                <a:latin typeface="PingFang SC"/>
              </a:rPr>
              <a:t>痛点重述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4736592"/>
            <a:ext cx="182880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4846320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4F8FF"/>
                </a:solidFill>
                <a:latin typeface="PingFang SC"/>
              </a:rPr>
              <a:t>AI 出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13248"/>
            <a:ext cx="182880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5522976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4F8FF"/>
                </a:solidFill>
                <a:latin typeface="PingFang SC"/>
              </a:rPr>
              <a:t>Tailwind 语言层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5413248"/>
            <a:ext cx="182880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26664" y="5522976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4F8FF"/>
                </a:solidFill>
                <a:latin typeface="PingFang SC"/>
              </a:rPr>
              <a:t>工程化落地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1078992"/>
            <a:ext cx="4069080" cy="4526280"/>
          </a:xfrm>
          <a:prstGeom prst="roundRect">
            <a:avLst/>
          </a:prstGeom>
          <a:solidFill>
            <a:srgbClr val="0F172A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PingFang SC"/>
              </a:rPr>
              <a:t>意图 -&gt; 原子类 -&gt; 运行结果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5552" y="2194560"/>
            <a:ext cx="3017520" cy="42062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2295144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0F1B"/>
                </a:solidFill>
                <a:latin typeface="PingFang SC"/>
              </a:rPr>
              <a:t>Prompt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5552" y="2926080"/>
            <a:ext cx="3017520" cy="420624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3026664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0F1B"/>
                </a:solidFill>
                <a:latin typeface="PingFang SC"/>
              </a:rPr>
              <a:t>Tailwind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45552" y="3657600"/>
            <a:ext cx="3017520" cy="420624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0144" y="3758184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0F1B"/>
                </a:solidFill>
                <a:latin typeface="PingFang SC"/>
              </a:rPr>
              <a:t>weapp-tw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45552" y="4389120"/>
            <a:ext cx="3017520" cy="420624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0144" y="4489704"/>
            <a:ext cx="2651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0F1B"/>
                </a:solidFill>
                <a:latin typeface="PingFang SC"/>
              </a:rPr>
              <a:t>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灵魂拷问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你到底花了多少时间在写样式？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4F8FF"/>
                </a:solidFill>
                <a:latin typeface="PingFang SC"/>
              </a:rPr>
              <a:t>你不是在写样式。</a:t>
            </a:r>
            <a:br/>
            <a:r>
              <a:t>你是在付出反复试错的时间税。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834640"/>
            <a:ext cx="5669280" cy="56692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971800"/>
            <a:ext cx="5212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4F8FF"/>
                </a:solidFill>
                <a:latin typeface="PingFang SC"/>
              </a:rPr>
              <a:t>上周写了多少行样式？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75888"/>
            <a:ext cx="5669280" cy="56692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813048"/>
            <a:ext cx="5212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4F8FF"/>
                </a:solidFill>
                <a:latin typeface="PingFang SC"/>
              </a:rPr>
              <a:t>花了多少时间调 margin / padding / radius / shadow？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517136"/>
            <a:ext cx="5669280" cy="56692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654296"/>
            <a:ext cx="5212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4F8FF"/>
                </a:solidFill>
                <a:latin typeface="PingFang SC"/>
              </a:rPr>
              <a:t>你是在写业务，还是在做像素搬运？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755648"/>
            <a:ext cx="365760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05740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PingFang SC"/>
              </a:rPr>
              <a:t>额外负担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44383" y="2697480"/>
            <a:ext cx="2697480" cy="438912"/>
          </a:xfrm>
          <a:prstGeom prst="roundRect">
            <a:avLst/>
          </a:prstGeom>
          <a:solidFill>
            <a:srgbClr val="0D2F42"/>
          </a:solidFill>
          <a:ln>
            <a:solidFill>
              <a:srgbClr val="0D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807208"/>
            <a:ext cx="2423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F8FF"/>
                </a:solidFill>
                <a:latin typeface="PingFang SC"/>
              </a:rPr>
              <a:t>平台差异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44383" y="3447288"/>
            <a:ext cx="2697480" cy="438912"/>
          </a:xfrm>
          <a:prstGeom prst="roundRect">
            <a:avLst/>
          </a:prstGeom>
          <a:solidFill>
            <a:srgbClr val="067762"/>
          </a:solidFill>
          <a:ln>
            <a:solidFill>
              <a:srgbClr val="067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557016"/>
            <a:ext cx="2423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F8FF"/>
                </a:solidFill>
                <a:latin typeface="PingFang SC"/>
              </a:rPr>
              <a:t>单位适配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44383" y="4197096"/>
            <a:ext cx="2697480" cy="438912"/>
          </a:xfrm>
          <a:prstGeom prst="roundRect">
            <a:avLst/>
          </a:prstGeom>
          <a:solidFill>
            <a:srgbClr val="0D2F42"/>
          </a:solidFill>
          <a:ln>
            <a:solidFill>
              <a:srgbClr val="0D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306824"/>
            <a:ext cx="24231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F8FF"/>
                </a:solidFill>
                <a:latin typeface="PingFang SC"/>
              </a:rPr>
              <a:t>多端一致性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4590288"/>
            <a:ext cx="2834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PingFang SC"/>
              </a:rPr>
              <a:t>小程序场景还要额外承担平台差异、单位适配和多端一致性。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为什么小程序样式开发一直慢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不是你不努力，是旧范式本来就低效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8046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4F8FF"/>
                </a:solidFill>
                <a:latin typeface="PingFang SC"/>
              </a:rPr>
              <a:t>慢，不是因为你不熟。</a:t>
            </a:r>
            <a:br/>
            <a:r>
              <a:t>是因为这条链路从一开始就没把“表达”和“验证”分开。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852928"/>
            <a:ext cx="4315968" cy="1060704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163824"/>
            <a:ext cx="3794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8FF"/>
                </a:solidFill>
                <a:latin typeface="PingFang SC"/>
              </a:rPr>
              <a:t>表达成本高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70448" y="2852928"/>
            <a:ext cx="4315968" cy="1060704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71616" y="3163824"/>
            <a:ext cx="3794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8FF"/>
                </a:solidFill>
                <a:latin typeface="PingFang SC"/>
              </a:rPr>
              <a:t>试错成本高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334256"/>
            <a:ext cx="4315968" cy="1060704"/>
          </a:xfrm>
          <a:prstGeom prst="roundRect">
            <a:avLst/>
          </a:prstGeom>
          <a:solidFill>
            <a:srgbClr val="122742"/>
          </a:solidFill>
          <a:ln>
            <a:solidFill>
              <a:srgbClr val="12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645152"/>
            <a:ext cx="3794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8FF"/>
                </a:solidFill>
                <a:latin typeface="PingFang SC"/>
              </a:rPr>
              <a:t>跨端一致性差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0448" y="4334256"/>
            <a:ext cx="4315968" cy="1060704"/>
          </a:xfrm>
          <a:prstGeom prst="roundRect">
            <a:avLst/>
          </a:prstGeom>
          <a:solidFill>
            <a:srgbClr val="222D46"/>
          </a:solidFill>
          <a:ln>
            <a:solidFill>
              <a:srgbClr val="22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71616" y="4645152"/>
            <a:ext cx="3794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8FF"/>
                </a:solidFill>
                <a:latin typeface="PingFang SC"/>
              </a:rPr>
              <a:t>反馈链路长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61320" y="1920240"/>
            <a:ext cx="310896" cy="361188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旧范式 vs 新范式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从“手写属性”切到“表达意图”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691640"/>
            <a:ext cx="5257800" cy="4069080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691640"/>
            <a:ext cx="5166360" cy="4069080"/>
          </a:xfrm>
          <a:prstGeom prst="roundRect">
            <a:avLst/>
          </a:prstGeom>
          <a:solidFill>
            <a:srgbClr val="073540"/>
          </a:solidFill>
          <a:ln>
            <a:solidFill>
              <a:srgbClr val="073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65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B7185"/>
                </a:solidFill>
                <a:latin typeface="PingFang SC"/>
              </a:rPr>
              <a:t>旧范式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PingFang SC"/>
              </a:rPr>
              <a:t>新范式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603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4F8FF"/>
                </a:solidFill>
                <a:latin typeface="PingFang SC"/>
              </a:rPr>
              <a:t>• 先想 CSS 属性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40156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4F8FF"/>
                </a:solidFill>
                <a:latin typeface="PingFang SC"/>
              </a:rPr>
              <a:t>• 一条一条试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24281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4F8FF"/>
                </a:solidFill>
                <a:latin typeface="PingFang SC"/>
              </a:rPr>
              <a:t>• 人肉反复试错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603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4F8FF"/>
                </a:solidFill>
                <a:latin typeface="PingFang SC"/>
              </a:rPr>
              <a:t>• 先说清界面意图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40156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4F8FF"/>
                </a:solidFill>
                <a:latin typeface="PingFang SC"/>
              </a:rPr>
              <a:t>• AI 给第一版结果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4281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4F8FF"/>
                </a:solidFill>
                <a:latin typeface="PingFang SC"/>
              </a:rPr>
              <a:t>• Tailwind 做受约束表达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先看结果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一句话，AI 出一版卡片样式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623560" cy="4251960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47088"/>
            <a:ext cx="5257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PingFang SC"/>
              </a:rPr>
              <a:t>Prompt 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52578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2E8F0"/>
                </a:solidFill>
                <a:latin typeface="Menlo"/>
              </a:rPr>
              <a:t>请帮我生成一组适合小程序页面的 Tailwind 类名，不要写 CSS。</a:t>
            </a:r>
            <a:br/>
            <a:r>
              <a:t>目标是一个渐变卡片：</a:t>
            </a:r>
            <a:br/>
            <a:r>
              <a:t>- 大圆角</a:t>
            </a:r>
            <a:br/>
            <a:r>
              <a:t>- 蓝青色渐变背景</a:t>
            </a:r>
            <a:br/>
            <a:r>
              <a:t>- 柔和阴影</a:t>
            </a:r>
            <a:br/>
            <a:r>
              <a:t>- 标题 32rpx，加粗</a:t>
            </a:r>
            <a:br/>
            <a:r>
              <a:t>- 副标题 24rpx，透明度略低</a:t>
            </a:r>
            <a:br/>
            <a:r>
              <a:t>- 底部一个白底深色字按钮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1920240"/>
            <a:ext cx="4407408" cy="3547872"/>
          </a:xfrm>
          <a:prstGeom prst="roundRect">
            <a:avLst/>
          </a:prstGeom>
          <a:solidFill>
            <a:srgbClr val="0C4A6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9752" y="23042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4F8FF"/>
                </a:solidFill>
                <a:latin typeface="PingFang SC"/>
              </a:rPr>
              <a:t>渐变卡片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9752" y="27889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ingFang SC"/>
              </a:rPr>
              <a:t>AI 直接生成第一版 UI 语言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3419856"/>
            <a:ext cx="1517904" cy="30175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3488" y="347472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0F1B"/>
                </a:solidFill>
                <a:latin typeface="PingFang SC"/>
              </a:rPr>
              <a:t>渐变卡片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50608" y="3858768"/>
            <a:ext cx="1517904" cy="301752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3913631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0F1B"/>
                </a:solidFill>
                <a:latin typeface="PingFang SC"/>
              </a:rPr>
              <a:t>大圆角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0608" y="4297680"/>
            <a:ext cx="1517904" cy="30175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4352544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0F1B"/>
                </a:solidFill>
                <a:latin typeface="PingFang SC"/>
              </a:rPr>
              <a:t>柔和阴影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0608" y="4736592"/>
            <a:ext cx="1517904" cy="301752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4791456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0F1B"/>
                </a:solidFill>
                <a:latin typeface="PingFang SC"/>
              </a:rPr>
              <a:t>标题 / 副标题 / CTA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为什么是 Tailwind，不是直接写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Tailwind 是更适合 AI 的样式语言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886200" cy="3611880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2402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2D3EE"/>
                </a:solidFill>
                <a:latin typeface="PingFang SC"/>
              </a:rPr>
              <a:t>结构化语言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907792"/>
            <a:ext cx="3063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F8FF"/>
                </a:solidFill>
                <a:latin typeface="PingFang SC"/>
              </a:rPr>
              <a:t>比自由 CSS 更可枚举、更可约束，也更适合 AI 稳定输出。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8" y="1874519"/>
            <a:ext cx="2697480" cy="1444752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2377439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4F8FF"/>
                </a:solidFill>
                <a:latin typeface="PingFang SC"/>
              </a:rPr>
              <a:t>可枚举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1874519"/>
            <a:ext cx="2697480" cy="144475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2377439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4F8FF"/>
                </a:solidFill>
                <a:latin typeface="PingFang SC"/>
              </a:rPr>
              <a:t>可组合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8928" y="3730752"/>
            <a:ext cx="2697480" cy="1444752"/>
          </a:xfrm>
          <a:prstGeom prst="roundRect">
            <a:avLst/>
          </a:prstGeom>
          <a:solidFill>
            <a:srgbClr val="122742"/>
          </a:solidFill>
          <a:ln>
            <a:solidFill>
              <a:srgbClr val="12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4233672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4F8FF"/>
                </a:solidFill>
                <a:latin typeface="PingFang SC"/>
              </a:rPr>
              <a:t>可约束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3730752"/>
            <a:ext cx="2697480" cy="1444752"/>
          </a:xfrm>
          <a:prstGeom prst="roundRect">
            <a:avLst/>
          </a:prstGeom>
          <a:solidFill>
            <a:srgbClr val="222D46"/>
          </a:solidFill>
          <a:ln>
            <a:solidFill>
              <a:srgbClr val="22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4233672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4F8FF"/>
                </a:solidFill>
                <a:latin typeface="PingFang SC"/>
              </a:rPr>
              <a:t>更稳定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三层模型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意图 -&gt; 原子类 -&gt; 小程序适配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2834640" cy="512064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1920240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PingFang SC"/>
              </a:rPr>
              <a:t>记住这一张，整场直播都在解释它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23160"/>
            <a:ext cx="2743200" cy="164592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83464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0F1B"/>
                </a:solidFill>
                <a:latin typeface="PingFang SC"/>
              </a:rPr>
              <a:t>你：描述界面意图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8803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PingFang S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423160"/>
            <a:ext cx="2743200" cy="16459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83464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0F1B"/>
                </a:solidFill>
                <a:latin typeface="PingFang SC"/>
              </a:rPr>
              <a:t>AI：生成 Tailwind 类名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88036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423160"/>
            <a:ext cx="2743200" cy="164592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7" y="283464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0F1B"/>
                </a:solidFill>
                <a:latin typeface="PingFang SC"/>
              </a:rPr>
              <a:t>weapp-tailwindcss：翻译成小程序结果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PingFang SC"/>
              </a:rPr>
              <a:t>AI 不直接对接小程序，它先对接 Tailwind 这层表达语言。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weapp-tailwindcss 在做什么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不只是插件，而是一条工程链路</a:t>
            </a:r>
          </a:p>
        </p:txBody>
      </p:sp>
      <p:pic>
        <p:nvPicPr>
          <p:cNvPr id="6" name="Picture 5" descr="tailwindcss-v4-uniapp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554480"/>
            <a:ext cx="416052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4919472"/>
            <a:ext cx="5120640" cy="548640"/>
          </a:xfrm>
          <a:prstGeom prst="roundRect">
            <a:avLst/>
          </a:prstGeom>
          <a:solidFill>
            <a:srgbClr val="0D2F42"/>
          </a:solidFill>
          <a:ln>
            <a:solidFill>
              <a:srgbClr val="0D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5047488"/>
            <a:ext cx="4828031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8FF"/>
                </a:solidFill>
                <a:latin typeface="PingFang SC"/>
              </a:rPr>
              <a:t>Tailwind 小程序全方面解决方案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6424" y="4251960"/>
            <a:ext cx="4663440" cy="548640"/>
          </a:xfrm>
          <a:prstGeom prst="roundRect">
            <a:avLst/>
          </a:prstGeom>
          <a:solidFill>
            <a:srgbClr val="0A4360"/>
          </a:solidFill>
          <a:ln>
            <a:solidFill>
              <a:srgbClr val="0A4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4379976"/>
            <a:ext cx="4370831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8FF"/>
                </a:solidFill>
                <a:latin typeface="PingFang SC"/>
              </a:rPr>
              <a:t>多构建工具基底支持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44168" y="3584448"/>
            <a:ext cx="4206240" cy="548640"/>
          </a:xfrm>
          <a:prstGeom prst="roundRect">
            <a:avLst/>
          </a:prstGeom>
          <a:solidFill>
            <a:srgbClr val="075A82"/>
          </a:solidFill>
          <a:ln>
            <a:solidFill>
              <a:srgbClr val="07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3712464"/>
            <a:ext cx="3913631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8FF"/>
                </a:solidFill>
                <a:latin typeface="PingFang SC"/>
              </a:rPr>
              <a:t>多框架、多端与运行时适配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81912" y="2916936"/>
            <a:ext cx="3749039" cy="548640"/>
          </a:xfrm>
          <a:prstGeom prst="roundRect">
            <a:avLst/>
          </a:prstGeom>
          <a:solidFill>
            <a:srgbClr val="0470A2"/>
          </a:solidFill>
          <a:ln>
            <a:solidFill>
              <a:srgbClr val="047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46504" y="3044952"/>
            <a:ext cx="34564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8FF"/>
                </a:solidFill>
                <a:latin typeface="PingFang SC"/>
              </a:rPr>
              <a:t>把“能写 Tailwind”升级成“能稳定运行”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支持范围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覆盖主流小程序开发路线</a:t>
            </a:r>
          </a:p>
        </p:txBody>
      </p:sp>
      <p:pic>
        <p:nvPicPr>
          <p:cNvPr id="6" name="Picture 5" descr="weapp-tw-plu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47088"/>
            <a:ext cx="4983480" cy="1783080"/>
          </a:xfrm>
          <a:prstGeom prst="rect">
            <a:avLst/>
          </a:prstGeom>
        </p:spPr>
      </p:pic>
      <p:pic>
        <p:nvPicPr>
          <p:cNvPr id="7" name="Picture 6" descr="weapp-tw-framewo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847088"/>
            <a:ext cx="4983480" cy="1783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6112" y="4315968"/>
            <a:ext cx="1481328" cy="47548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425696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8FF"/>
                </a:solidFill>
                <a:latin typeface="PingFang SC"/>
              </a:rPr>
              <a:t>webpack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9191" y="4315968"/>
            <a:ext cx="1481328" cy="47548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1" y="4425696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8FF"/>
                </a:solidFill>
                <a:latin typeface="PingFang SC"/>
              </a:rPr>
              <a:t>vite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4315968"/>
            <a:ext cx="1481328" cy="47548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4425696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8FF"/>
                </a:solidFill>
                <a:latin typeface="PingFang SC"/>
              </a:rPr>
              <a:t>rspack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4315968"/>
            <a:ext cx="1481328" cy="47548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4425696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8FF"/>
                </a:solidFill>
                <a:latin typeface="PingFang SC"/>
              </a:rPr>
              <a:t>rollup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4315968"/>
            <a:ext cx="1481328" cy="47548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4425696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8FF"/>
                </a:solidFill>
                <a:latin typeface="PingFang SC"/>
              </a:rPr>
              <a:t>rolldown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11512" y="4315968"/>
            <a:ext cx="1481328" cy="47548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2" y="4425696"/>
            <a:ext cx="1481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4F8FF"/>
                </a:solidFill>
                <a:latin typeface="PingFang SC"/>
              </a:rPr>
              <a:t>gulp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02352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PingFang SC"/>
              </a:rPr>
              <a:t>支持的是这些构建工具基底，以及其上游框架生态。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仓库不是 PPT 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它同时有 demo、templates、Skill、E2E、benchmark</a:t>
            </a:r>
          </a:p>
        </p:txBody>
      </p:sp>
      <p:pic>
        <p:nvPicPr>
          <p:cNvPr id="6" name="Picture 5" descr="v4-rel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27632"/>
            <a:ext cx="4526280" cy="2834640"/>
          </a:xfrm>
          <a:prstGeom prst="rect">
            <a:avLst/>
          </a:prstGeom>
        </p:spPr>
      </p:pic>
      <p:pic>
        <p:nvPicPr>
          <p:cNvPr id="7" name="Picture 6" descr="showcase-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4462272"/>
            <a:ext cx="475488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01968" y="5943600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PingFang SC"/>
              </a:rPr>
              <a:t>不是概念图，是真仓库、真模板、真发布节奏，也有真实落地案例。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92224"/>
            <a:ext cx="5074920" cy="530352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29384"/>
            <a:ext cx="4617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PingFang SC"/>
              </a:rPr>
              <a:t>demo/*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42032"/>
            <a:ext cx="507492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679192"/>
            <a:ext cx="4617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PingFang SC"/>
              </a:rPr>
              <a:t>templates.jsonc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91839"/>
            <a:ext cx="5074920" cy="530352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28999"/>
            <a:ext cx="4617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PingFang SC"/>
              </a:rPr>
              <a:t>skills/weapp-tailwindcss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041648"/>
            <a:ext cx="5074920" cy="53035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4178808"/>
            <a:ext cx="4617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PingFang SC"/>
              </a:rPr>
              <a:t>watch / HMR 回归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791456"/>
            <a:ext cx="5074920" cy="530352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928616"/>
            <a:ext cx="4617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F"/>
                </a:solidFill>
                <a:latin typeface="PingFang SC"/>
              </a:rPr>
              <a:t>framework benchmark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主 Demo 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demo/uni-app-tailwindcss-v4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5257800" cy="3611880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488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PingFang SC"/>
              </a:rPr>
              <a:t>主讲目录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542032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4F8FF"/>
                </a:solidFill>
                <a:latin typeface="PingFang SC"/>
              </a:rPr>
              <a:t>demo/uni-app-tailwindcss-v4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20624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8FF"/>
                </a:solidFill>
                <a:latin typeface="PingFang SC"/>
              </a:rPr>
              <a:t>现场适合展示 patch、vite 插件、样式入口和页面类名。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1737360"/>
            <a:ext cx="4709160" cy="1965960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38544" y="1847088"/>
            <a:ext cx="4343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PingFang SC"/>
              </a:rPr>
              <a:t>index.vue 真实片段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121408"/>
            <a:ext cx="4343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2E8F0"/>
                </a:solidFill>
                <a:latin typeface="Menlo"/>
              </a:rPr>
              <a:t>&lt;view :class="className" class="aspect-[calc(4*3+1)/3]"&gt;</a:t>
            </a:r>
            <a:br/>
            <a:r>
              <a:t>  {{ className }}</a:t>
            </a:r>
            <a:br/>
            <a:r>
              <a:t>&lt;/view&gt;</a:t>
            </a:r>
            <a:br/>
            <a:br/>
            <a:r>
              <a:t>const className = ref(</a:t>
            </a:r>
            <a:br/>
            <a:r>
              <a:t>  'bg-[#0000ff] text-[45rpx] text-white'</a:t>
            </a:r>
            <a:br/>
            <a:r>
              <a:t>)</a:t>
            </a:r>
          </a:p>
        </p:txBody>
      </p: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4096512"/>
            <a:ext cx="749808" cy="74980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565392" y="4572000"/>
            <a:ext cx="1993392" cy="868680"/>
          </a:xfrm>
          <a:prstGeom prst="roundRect">
            <a:avLst/>
          </a:prstGeom>
          <a:solidFill>
            <a:srgbClr val="075A82"/>
          </a:solidFill>
          <a:ln>
            <a:solidFill>
              <a:srgbClr val="07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4846320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A0F1B"/>
                </a:solidFill>
                <a:latin typeface="PingFang SC"/>
              </a:rPr>
              <a:t>直观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9952" y="4572000"/>
            <a:ext cx="1993392" cy="868680"/>
          </a:xfrm>
          <a:prstGeom prst="roundRect">
            <a:avLst/>
          </a:prstGeom>
          <a:solidFill>
            <a:srgbClr val="075A82"/>
          </a:solidFill>
          <a:ln>
            <a:solidFill>
              <a:srgbClr val="07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4846320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A0F1B"/>
                </a:solidFill>
                <a:latin typeface="PingFang SC"/>
              </a:rPr>
              <a:t>稳定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5358384"/>
            <a:ext cx="1993392" cy="868680"/>
          </a:xfrm>
          <a:prstGeom prst="roundRect">
            <a:avLst/>
          </a:prstGeom>
          <a:solidFill>
            <a:srgbClr val="067762"/>
          </a:solidFill>
          <a:ln>
            <a:solidFill>
              <a:srgbClr val="067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5632704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A0F1B"/>
                </a:solidFill>
                <a:latin typeface="PingFang SC"/>
              </a:rPr>
              <a:t>贴近日常业务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9952" y="5358384"/>
            <a:ext cx="1993392" cy="868680"/>
          </a:xfrm>
          <a:prstGeom prst="roundRect">
            <a:avLst/>
          </a:prstGeom>
          <a:solidFill>
            <a:srgbClr val="067762"/>
          </a:solidFill>
          <a:ln>
            <a:solidFill>
              <a:srgbClr val="067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952" y="5632704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A0F1B"/>
                </a:solidFill>
                <a:latin typeface="PingFang SC"/>
              </a:rPr>
              <a:t>适合直播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关键配置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postinstall: "weapp-tw patch"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55648"/>
            <a:ext cx="10469880" cy="7680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99339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0F1B"/>
                </a:solidFill>
                <a:latin typeface="PingFang SC"/>
              </a:rPr>
              <a:t>真实配置片段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88920"/>
            <a:ext cx="6080760" cy="2834640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98648"/>
            <a:ext cx="5715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PingFang SC"/>
              </a:rPr>
              <a:t>package.json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72968"/>
            <a:ext cx="5715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2E8F0"/>
                </a:solidFill>
                <a:latin typeface="Menlo"/>
              </a:rPr>
              <a:t>{</a:t>
            </a:r>
            <a:br/>
            <a:r>
              <a:t>  "scripts": {</a:t>
            </a:r>
            <a:br/>
            <a:r>
              <a:t>    "dev": "npm run dev:mp-weixin",</a:t>
            </a:r>
            <a:br/>
            <a:r>
              <a:t>    "build:mp-weixin": "node ../../scripts/uni-build-guard.mjs build -p mp-weixin",</a:t>
            </a:r>
            <a:br/>
            <a:r>
              <a:t>    "postinstall": "weapp-tw patch"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6912" y="2834640"/>
            <a:ext cx="3621024" cy="56692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1504" y="2980944"/>
            <a:ext cx="3273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8FF"/>
                </a:solidFill>
                <a:latin typeface="PingFang SC"/>
              </a:rPr>
              <a:t>patch 链路不能漏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3694176"/>
            <a:ext cx="3621024" cy="56692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1504" y="3840480"/>
            <a:ext cx="3273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8FF"/>
                </a:solidFill>
                <a:latin typeface="PingFang SC"/>
              </a:rPr>
              <a:t>任意值问题常和它有关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4553712"/>
            <a:ext cx="3621024" cy="56692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1504" y="4700016"/>
            <a:ext cx="3273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8FF"/>
                </a:solidFill>
                <a:latin typeface="PingFang SC"/>
              </a:rPr>
              <a:t>JS / TS 字符串 class 也常和它有关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关键配置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vite.config.ts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55648"/>
            <a:ext cx="10469880" cy="7680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99339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0F1B"/>
                </a:solidFill>
                <a:latin typeface="PingFang SC"/>
              </a:rPr>
              <a:t>插件链路片段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88920"/>
            <a:ext cx="6080760" cy="2834640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98648"/>
            <a:ext cx="5715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PingFang SC"/>
              </a:rPr>
              <a:t>vite.config.ts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72968"/>
            <a:ext cx="5715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2E8F0"/>
                </a:solidFill>
                <a:latin typeface="Menlo"/>
              </a:rPr>
              <a:t>plugins: [</a:t>
            </a:r>
            <a:br/>
            <a:r>
              <a:t>  uni(),</a:t>
            </a:r>
            <a:br/>
            <a:r>
              <a:t>  tailwindcss(),</a:t>
            </a:r>
            <a:br/>
            <a:r>
              <a:t>  UnifiedViteWeappTailwindcssPlugin({</a:t>
            </a:r>
            <a:br/>
            <a:r>
              <a:t>    rem2rpx: true,</a:t>
            </a:r>
            <a:br/>
            <a:r>
              <a:t>    cssEntries: [</a:t>
            </a:r>
            <a:br/>
            <a:r>
              <a:t>      path.resolve(__dirname, "src/main.css"),</a:t>
            </a:r>
            <a:br/>
            <a:r>
              <a:t>      path.resolve(__dirname, "src/common.css"),</a:t>
            </a:r>
            <a:br/>
            <a:r>
              <a:t>    ],</a:t>
            </a:r>
            <a:br/>
            <a:r>
              <a:t>  }),</a:t>
            </a:r>
            <a:br/>
            <a:r>
              <a:t>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6912" y="2834640"/>
            <a:ext cx="3621024" cy="56692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1504" y="2980944"/>
            <a:ext cx="3273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8FF"/>
                </a:solidFill>
                <a:latin typeface="PingFang SC"/>
              </a:rPr>
              <a:t>uni()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3694176"/>
            <a:ext cx="3621024" cy="56692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1504" y="3840480"/>
            <a:ext cx="3273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8FF"/>
                </a:solidFill>
                <a:latin typeface="PingFang SC"/>
              </a:rPr>
              <a:t>Tailwind 插件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4553712"/>
            <a:ext cx="3621024" cy="56692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1504" y="4700016"/>
            <a:ext cx="3273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8FF"/>
                </a:solidFill>
                <a:latin typeface="PingFang SC"/>
              </a:rPr>
              <a:t>UnifiedViteWeappTailwindcssPlugin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关键配置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src/main.css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55648"/>
            <a:ext cx="10469880" cy="768096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993392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A0F1B"/>
                </a:solidFill>
                <a:latin typeface="PingFang SC"/>
              </a:rPr>
              <a:t>样式入口片段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88920"/>
            <a:ext cx="6080760" cy="2834640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98648"/>
            <a:ext cx="5715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PingFang SC"/>
              </a:rPr>
              <a:t>src/main.css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72968"/>
            <a:ext cx="5715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2E8F0"/>
                </a:solidFill>
                <a:latin typeface="Menlo"/>
              </a:rPr>
              <a:t>@import "weapp-tailwindcss";</a:t>
            </a:r>
            <a:br/>
            <a:r>
              <a:t>@config "../tailwind.config.js";</a:t>
            </a:r>
            <a:br/>
            <a:br/>
            <a:r>
              <a:t>@theme {</a:t>
            </a:r>
            <a:br/>
            <a:r>
              <a:t>  --color-neutral-1B: #1b1b1b;</a:t>
            </a:r>
            <a:br/>
            <a:r>
              <a:t>  --color-midnight: #121063;</a:t>
            </a:r>
            <a:br/>
            <a:r>
              <a:t>  --color-tahiti: #3ab7bf;</a:t>
            </a:r>
            <a:br/>
            <a:r>
              <a:t>  --color-bermuda: #78dcca;</a:t>
            </a:r>
            <a:br/>
            <a:r>
              <a:t>}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11680"/>
            <a:ext cx="91440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296912" y="2834640"/>
            <a:ext cx="3621024" cy="56692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1504" y="2980944"/>
            <a:ext cx="3273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8FF"/>
                </a:solidFill>
                <a:latin typeface="PingFang SC"/>
              </a:rPr>
              <a:t>Tailwind 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3694176"/>
            <a:ext cx="3621024" cy="56692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1504" y="3840480"/>
            <a:ext cx="3273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8FF"/>
                </a:solidFill>
                <a:latin typeface="PingFang SC"/>
              </a:rPr>
              <a:t>主题变量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4553712"/>
            <a:ext cx="3621024" cy="56692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4700016"/>
            <a:ext cx="3273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8FF"/>
                </a:solidFill>
                <a:latin typeface="PingFang SC"/>
              </a:rPr>
              <a:t>配置承载点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AI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让 AI 不只是写代码，而是按流程做事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572768"/>
            <a:ext cx="786384" cy="7863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1783080"/>
            <a:ext cx="3840480" cy="1417320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892808"/>
            <a:ext cx="3474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PingFang SC"/>
              </a:rPr>
              <a:t>Skill 输入风格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67128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2E8F0"/>
                </a:solidFill>
                <a:latin typeface="Menlo"/>
              </a:rPr>
              <a:t>我现在是 uni-app cli vue3 vite 项目，目标端是微信小程序 + H5。</a:t>
            </a:r>
            <a:br/>
            <a:r>
              <a:t>请按 weapp-tailwindcss skill 给我最小可用配置。</a:t>
            </a:r>
            <a:br/>
            <a:r>
              <a:t>输出需要包含：</a:t>
            </a:r>
            <a:br/>
            <a:r>
              <a:t>1. 安装命令</a:t>
            </a:r>
            <a:br/>
            <a:r>
              <a:t>2. 完整配置文件</a:t>
            </a:r>
            <a:br/>
            <a:r>
              <a:t>3. 页面示例</a:t>
            </a:r>
            <a:br/>
            <a:r>
              <a:t>4. 验证步骤</a:t>
            </a:r>
            <a:br/>
            <a:r>
              <a:t>5. 回滚方案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2148840" cy="93268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3941063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0A0F1B"/>
                </a:solidFill>
                <a:latin typeface="PingFang SC"/>
              </a:rPr>
              <a:t>先收集上下文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3931920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3703320"/>
            <a:ext cx="2148840" cy="93268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3941063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0A0F1B"/>
                </a:solidFill>
                <a:latin typeface="PingFang SC"/>
              </a:rPr>
              <a:t>再输出配置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3931920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703320"/>
            <a:ext cx="2148840" cy="932688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3941063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0A0F1B"/>
                </a:solidFill>
                <a:latin typeface="PingFang SC"/>
              </a:rPr>
              <a:t>再给验证步骤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3931920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PingFang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3703320"/>
            <a:ext cx="2148840" cy="932688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3941063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0A0F1B"/>
                </a:solidFill>
                <a:latin typeface="PingFang SC"/>
              </a:rPr>
              <a:t>再给回滚方案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Skill 先问什么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最小上下文决定方案质量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5852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4F8FF"/>
                </a:solidFill>
                <a:latin typeface="PingFang SC"/>
              </a:rPr>
              <a:t>先问对，再输出。</a:t>
            </a:r>
            <a:br/>
            <a:r>
              <a:t>上下文不完整，AI 只会把错误放大。</a:t>
            </a:r>
          </a:p>
        </p:txBody>
      </p:sp>
      <p:pic>
        <p:nvPicPr>
          <p:cNvPr id="7" name="Picture 6" descr="create-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19072"/>
            <a:ext cx="3246120" cy="1572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6112" y="3154680"/>
            <a:ext cx="1645920" cy="65836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32841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F4F8FF"/>
                </a:solidFill>
                <a:latin typeface="PingFang SC"/>
              </a:rPr>
              <a:t>框架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4" y="3154680"/>
            <a:ext cx="164592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332841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F4F8FF"/>
                </a:solidFill>
                <a:latin typeface="PingFang SC"/>
              </a:rPr>
              <a:t>构建器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2896" y="3154680"/>
            <a:ext cx="1645920" cy="65836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332841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F4F8FF"/>
                </a:solidFill>
                <a:latin typeface="PingFang SC"/>
              </a:rPr>
              <a:t>目标端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178808"/>
            <a:ext cx="164592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52544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F4F8FF"/>
                </a:solidFill>
                <a:latin typeface="PingFang SC"/>
              </a:rPr>
              <a:t>Tailwind 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9504" y="4178808"/>
            <a:ext cx="1645920" cy="658368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9504" y="4352544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F4F8FF"/>
                </a:solidFill>
                <a:latin typeface="PingFang SC"/>
              </a:rPr>
              <a:t>包管理器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3675887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PingFang SC"/>
              </a:rPr>
              <a:t>上下文不完整，AI 就会四处漏风。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Skill 输出什么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不是一段代码，而是一套落地结果</a:t>
            </a:r>
          </a:p>
        </p:txBody>
      </p:sp>
      <p:pic>
        <p:nvPicPr>
          <p:cNvPr id="6" name="Picture 5" descr="create-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00784"/>
            <a:ext cx="3017520" cy="1463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1755648"/>
            <a:ext cx="5852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4F8FF"/>
                </a:solidFill>
                <a:latin typeface="PingFang SC"/>
              </a:rPr>
              <a:t>输出不是“建议”。输出应该是可复制、可验证、可回滚。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578608"/>
            <a:ext cx="2926080" cy="960120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871216"/>
            <a:ext cx="2633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F8FF"/>
                </a:solidFill>
                <a:latin typeface="PingFang SC"/>
              </a:rPr>
              <a:t>修改文件清单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578608"/>
            <a:ext cx="29260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2871216"/>
            <a:ext cx="2633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F8FF"/>
                </a:solidFill>
                <a:latin typeface="PingFang SC"/>
              </a:rPr>
              <a:t>可复制配置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2578608"/>
            <a:ext cx="2926080" cy="960120"/>
          </a:xfrm>
          <a:prstGeom prst="roundRect">
            <a:avLst/>
          </a:prstGeom>
          <a:solidFill>
            <a:srgbClr val="0D2F42"/>
          </a:solidFill>
          <a:ln>
            <a:solidFill>
              <a:srgbClr val="0D2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2871216"/>
            <a:ext cx="2633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F8FF"/>
                </a:solidFill>
                <a:latin typeface="PingFang SC"/>
              </a:rPr>
              <a:t>安装命令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950208"/>
            <a:ext cx="2926080" cy="960120"/>
          </a:xfrm>
          <a:prstGeom prst="roundRect">
            <a:avLst/>
          </a:prstGeom>
          <a:solidFill>
            <a:srgbClr val="067762"/>
          </a:solidFill>
          <a:ln>
            <a:solidFill>
              <a:srgbClr val="067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4242816"/>
            <a:ext cx="2633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F8FF"/>
                </a:solidFill>
                <a:latin typeface="PingFang SC"/>
              </a:rPr>
              <a:t>验证步骤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950208"/>
            <a:ext cx="2926080" cy="960120"/>
          </a:xfrm>
          <a:prstGeom prst="roundRect">
            <a:avLst/>
          </a:prstGeom>
          <a:solidFill>
            <a:srgbClr val="5C3812"/>
          </a:solidFill>
          <a:ln>
            <a:solidFill>
              <a:srgbClr val="5C38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2584" y="4242816"/>
            <a:ext cx="2633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4F8FF"/>
                </a:solidFill>
                <a:latin typeface="PingFang SC"/>
              </a:rPr>
              <a:t>回滚方案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进阶技巧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这些地方最容易踩坑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8FF"/>
                </a:solidFill>
                <a:latin typeface="PingFang SC"/>
              </a:rPr>
              <a:t>最容易翻车的不是语法。</a:t>
            </a:r>
            <a:br/>
            <a:r>
              <a:t>而是类名生成、枚举边界和端侧约束。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737360"/>
            <a:ext cx="457200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1847088"/>
            <a:ext cx="4206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PingFang SC"/>
              </a:rPr>
              <a:t>真实写法锚点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21408"/>
            <a:ext cx="42062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2E8F0"/>
                </a:solidFill>
                <a:latin typeface="Menlo"/>
              </a:rPr>
              <a:t>&lt;view :class="className" class="aspect-[calc(4*3+1)/3]"&gt;</a:t>
            </a:r>
            <a:br/>
            <a:r>
              <a:t>  {{ className }}</a:t>
            </a:r>
            <a:br/>
            <a:r>
              <a:t>&lt;/view&gt;</a:t>
            </a:r>
            <a:br/>
            <a:br/>
            <a:r>
              <a:t>const className = ref(</a:t>
            </a:r>
            <a:br/>
            <a:r>
              <a:t>  'bg-[#0000ff] text-[45rpx] text-white'</a:t>
            </a:r>
            <a:br/>
            <a: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542032"/>
            <a:ext cx="4983480" cy="493776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70048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8FF"/>
                </a:solidFill>
                <a:latin typeface="PingFang SC"/>
              </a:rPr>
              <a:t>任意值与 rpx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27248"/>
            <a:ext cx="4983480" cy="493776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3255264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8FF"/>
                </a:solidFill>
                <a:latin typeface="PingFang SC"/>
              </a:rPr>
              <a:t>动态 class 要枚举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712463"/>
            <a:ext cx="4983480" cy="493776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840479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8FF"/>
                </a:solidFill>
                <a:latin typeface="PingFang SC"/>
              </a:rPr>
              <a:t>space-y / space-x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297679"/>
            <a:ext cx="4983480" cy="493776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425695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8FF"/>
                </a:solidFill>
                <a:latin typeface="PingFang SC"/>
              </a:rPr>
              <a:t>twMerge / cva / cn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882896"/>
            <a:ext cx="4983480" cy="493776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5010912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8FF"/>
                </a:solidFill>
                <a:latin typeface="PingFang SC"/>
              </a:rPr>
              <a:t>uni-app 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F"/>
                </a:solidFill>
                <a:latin typeface="PingFang SC"/>
              </a:rPr>
              <a:t>工程信号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8778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PingFang SC"/>
              </a:rPr>
              <a:t>从“能跑”走向“可验证”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3291840" cy="2926080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3774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22D3EE"/>
                </a:solidFill>
                <a:latin typeface="PingFang SC"/>
              </a:rPr>
              <a:t>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154680"/>
            <a:ext cx="2560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8FF"/>
                </a:solidFill>
                <a:latin typeface="PingFang SC"/>
              </a:rPr>
              <a:t>重点不是某框架必赢，而是这套生态已经把问题工程化。</a:t>
            </a:r>
          </a:p>
        </p:txBody>
      </p:sp>
      <p:pic>
        <p:nvPicPr>
          <p:cNvPr id="9" name="Picture 8" descr="v4-rel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810512"/>
            <a:ext cx="3017520" cy="1965960"/>
          </a:xfrm>
          <a:prstGeom prst="rect">
            <a:avLst/>
          </a:prstGeom>
        </p:spPr>
      </p:pic>
      <p:pic>
        <p:nvPicPr>
          <p:cNvPr id="10" name="Picture 9" descr="tailwindcss-v4-uniapp-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1810512"/>
            <a:ext cx="3310128" cy="1965960"/>
          </a:xfrm>
          <a:prstGeom prst="rect">
            <a:avLst/>
          </a:prstGeom>
        </p:spPr>
      </p:pic>
      <p:pic>
        <p:nvPicPr>
          <p:cNvPr id="11" name="Picture 10" descr="showcase-coll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858768"/>
            <a:ext cx="4206240" cy="1417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06840" y="3858768"/>
            <a:ext cx="1965960" cy="475488"/>
          </a:xfrm>
          <a:prstGeom prst="roundRect">
            <a:avLst/>
          </a:prstGeom>
          <a:solidFill>
            <a:srgbClr val="075A82"/>
          </a:solidFill>
          <a:ln>
            <a:solidFill>
              <a:srgbClr val="07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3986784"/>
            <a:ext cx="1965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8FF"/>
                </a:solidFill>
                <a:latin typeface="PingFang SC"/>
              </a:rPr>
              <a:t>HMR 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4517136"/>
            <a:ext cx="196596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4645152"/>
            <a:ext cx="1965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8FF"/>
                </a:solidFill>
                <a:latin typeface="PingFang SC"/>
              </a:rPr>
              <a:t>framework benchmark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175504"/>
            <a:ext cx="196596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5303520"/>
            <a:ext cx="1965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4F8FF"/>
                </a:solidFill>
                <a:latin typeface="PingFang SC"/>
              </a:rPr>
              <a:t>用数据讨论体验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419088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PingFang SC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583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F8FF"/>
                </a:solidFill>
                <a:latin typeface="PingFang SC"/>
              </a:rPr>
              <a:t>别再把样式开发当体力活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PingFang SC"/>
              </a:rPr>
              <a:t>从下一个页面开始试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4" y="530352"/>
            <a:ext cx="658368" cy="658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2971800"/>
            <a:ext cx="5806440" cy="438912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3063240"/>
            <a:ext cx="5394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PingFang SC"/>
              </a:rPr>
              <a:t>AI 写意图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30168"/>
            <a:ext cx="580644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721608"/>
            <a:ext cx="5394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PingFang SC"/>
              </a:rPr>
              <a:t>Tailwind 做语言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88536"/>
            <a:ext cx="5806440" cy="438912"/>
          </a:xfrm>
          <a:prstGeom prst="roundRect">
            <a:avLst/>
          </a:prstGeom>
          <a:solidFill>
            <a:srgbClr val="131C2E"/>
          </a:solidFill>
          <a:ln>
            <a:solidFill>
              <a:srgbClr val="13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79976"/>
            <a:ext cx="5394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PingFang SC"/>
              </a:rPr>
              <a:t>weapp-tailwindcss 负责翻译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946904"/>
            <a:ext cx="5806440" cy="438912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5038344"/>
            <a:ext cx="5394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F"/>
                </a:solidFill>
                <a:latin typeface="PingFang SC"/>
              </a:rPr>
              <a:t>先跑一个 demo，再用一句真实需求试一次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645920"/>
            <a:ext cx="3383280" cy="3611880"/>
          </a:xfrm>
          <a:prstGeom prst="roundRect">
            <a:avLst/>
          </a:prstGeom>
          <a:solidFill>
            <a:srgbClr val="067762"/>
          </a:solidFill>
          <a:ln>
            <a:solidFill>
              <a:srgbClr val="0677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221284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0F1B"/>
                </a:solidFill>
                <a:latin typeface="PingFang SC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2743200"/>
            <a:ext cx="2423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0F1B"/>
                </a:solidFill>
                <a:latin typeface="PingFang SC"/>
              </a:rPr>
              <a:t>别再从属性开始。</a:t>
            </a:r>
            <a:br/>
            <a:r>
              <a:t>先从意图开始。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